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5A09CE1-963C-DDB7-2D29-9A0167E20CEE}">
          <p14:sldIdLst>
            <p14:sldId id="256"/>
          </p14:sldIdLst>
        </p14:section>
        <p14:section name="Motivation" id="{A4CFAA27-CD07-983D-A1F0-742D69C421C5}">
          <p14:sldIdLst>
            <p14:sldId id="257"/>
          </p14:sldIdLst>
        </p14:section>
        <p14:section name="Approach" id="{9383E975-C2A5-D6F7-F6F5-EAE4AF33AF31}">
          <p14:sldIdLst>
            <p14:sldId id="258"/>
          </p14:sldIdLst>
        </p14:section>
        <p14:section name="Data and setup" id="{46015A2B-0867-33FE-7E2C-6E03E75C72E2}">
          <p14:sldIdLst>
            <p14:sldId id="259"/>
            <p14:sldId id="260"/>
            <p14:sldId id="261"/>
            <p14:sldId id="262"/>
          </p14:sldIdLst>
        </p14:section>
        <p14:section name="Models and metrics" id="{2682ED36-91A4-0803-D3FA-56592EBEF66E}">
          <p14:sldIdLst>
            <p14:sldId id="263"/>
            <p14:sldId id="264"/>
            <p14:sldId id="265"/>
            <p14:sldId id="266"/>
          </p14:sldIdLst>
        </p14:section>
        <p14:section name="Evaluation" id="{08CE91F0-5C20-92C3-8089-24B9D623DC31}">
          <p14:sldIdLst>
            <p14:sldId id="267"/>
            <p14:sldId id="268"/>
            <p14:sldId id="269"/>
            <p14:sldId id="270"/>
            <p14:sldId id="271"/>
          </p14:sldIdLst>
        </p14:section>
        <p14:section name="Wrap-up" id="{9B9FB250-80FA-C67A-61E6-BB74778A9307}">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1813" autoAdjust="0"/>
  </p:normalViewPr>
  <p:slideViewPr>
    <p:cSldViewPr snapToGrid="0" snapToObjects="1">
      <p:cViewPr varScale="1">
        <p:scale>
          <a:sx n="53" d="100"/>
          <a:sy n="53" d="100"/>
        </p:scale>
        <p:origin x="166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1109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a:t>
            </a:r>
            <a:r>
              <a:rPr lang="en-US"/>
              <a:t>: </a:t>
            </a:r>
            <a:r>
              <a:rPr lang="en-US" dirty="0"/>
              <a:t>
(Notebook plus four .py modules. Requires PhysioNet-credentialed MIMIC-IV access on BigQuery.)
Hospital labs call a clinician whenever a result lands in a critical range, such as potassium above 6.0. This tutorial asks a forward-looking version of that question: given a patient's recent lab draws during an admission, can we predict whether their NEXT draw will be critical?
We compare two models on the same three features: a logistic regression baseline and an LSTM that reads the whole sequence of draws. The point is not to build a deployable alert system. It is to learn how to set up a fair comparison on a rare-event problem with sequence data.
LEARNING GOALS:
1. Build admission-scoped lab sequences from MIMIC-IV with BigQuery.
2. Avoid leakage with patient-level splits.
3. Handle a ~0.6% positive rate and choose an operating point deliberately.
4. Compare models fairly: matched sensitivity, matched rows.
5. Read results honestly, including a case where the LSTM does not win.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Labs report critical values to clinicians immediately. Severe hyperkalemia, potassium above about 6.0, can affect heart rhythm, so it is a classic critical value.
THE PROBLEM:
In this data, only 0.6 percent of potassium draws are followed by a critical value. That rarity is the whole challenge. A model that never flags anything is 99.4 percent "accurate" and clinically useless.
WHY THE NEXT DRAW:
Reacting to a critical result after it is reported is the standard process. The question here is whether the history of earlier draws can give an early warning before it happens.
THE REAL COST IS ALERT BURDEN:
Any early-warning system trades catches against false alarms. If it flags too many draws, clinicians stop trusting it. So throughout this tutorial we judge models by how many false alarms they raise at the same catch rate, not just by headline accuracy.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Given what we know about a patient's lab draws so far in an admission, will their next draw be critical? That is a yes/no label for every draw except the last one in an admission.
THE TWO MODELS:
The baseline is a logistic regression. It looks at the current draw and two summary features: how much the value changed since the previous draw, and how many hours passed. It has no memory beyond that.
The LSTM is a recurrent neural network. It reads the draws in order, and its hidden state can carry information from earlier draws forward.
WHY HOLD THE FEATURES CONSTANT:
Both models get the same three features. If the LSTM were given richer inputs, we could not tell whether any improvement came from the sequence modeling or from the extra information. Keeping features identical isolates the one thing we want to test: does seeing the sequence help?
WHAT WOULD COUNT AS A WIN:
Not a higher accuracy number. A win means fewer false alarms at the same share of critical values caught.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DATA IS:
The lab events table holds every lab result with a timestamp. We query it in BigQuery.
WHY ONE ITEMID:
Potassium appears under several itemids for different specimen types: whole blood, blood gas, urine, body fluids. The serum/plasma chemistry itemid, 50971, accounts for the vast majority of draws, about 4.15 million rows versus roughly 1,300 for the next largest. Mixing specimen types would add artificial jumps to the sequences that are not physiology.
WHY FILTER:
Raw values include implausible extremes, for example potassium above 25, which are almost certainly data-entry or equipment artifacts. We keep 1.0 to 10.0 mEq/L before building any label or feature. Without this, the labels and the change features would be corrupted by a handful of garbage rows.
WHY INPATIENT ONLY:
We need an admission ID to build sequences that stay inside one hospital stay
</a:t>
            </a:r>
          </a:p>
          <a:p>
            <a:r>
              <a:rPr lang="en-US" dirty="0"/>
              <a:t>THE NUMBERS:
After the filters, 1,913,070 draws have both a previous and a next value, which is what a feature row and its label require. About 121,440 patients contribute at least one admission with three or more valid draws.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
For every draw, the label is whether the NEXT recorded draw in that admission is above 6.0 mEq/L. That makes this a standard supervised problem: features at draw t, label from draw t+1.
THE THREE FEATURES:
Current value. The change from the previous draw, which captures direction and speed of movement. Hours since the previous draw, which captures how closely the patient is being monitored.
HOW TO READ THE TABLE:
This is a made-up admission with four draws. Draw 1 has no previous draw, so it cannot have a, and it is excluded. Draw 4 has no next draw, so it has no label, and it is excluded. Draws 2 and 3 are usable rows. Draw 3 is labeled critical because the next value, 6.2, is above 6.0.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BUG WE HIT:
An early version of the pipeline ordered draws by patient only. For a patient with several hospital stays, the last draw of one admission was followed by the first draw of the next admission, sometimes months later. The "hours since last draw" feature then held a multi-month gap, and the model was treating two unrelated hospital stays as one continuous trend.
WHY IT MATTERS:
A trend inside one admission means something physiologic: dialysis, medication, a worsening kidney. A gap of months between admissions is not a time step in any meaningful sense. It invalidates the features and the sequence model's premise.
THE FIX:
Partition the window by patient ID and admission ID together, so every hospitalization becomes its own sequence. In the SQL this is one extra column in the window partition.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Split by patient, then take all of that patient's rows with them. 70 percent of patients go to training, 15 to validation, 15 to test.
WHY NOT SPLIT BY ROW:
Draws from the same admission look alike. If some are in training and a neighbor is in test, the model can effectively memorize that patient. The test score then reflects memory, not generalization, and it will be too optimistic.
HOW WE CHECK:
The notebook builds the set of patient IDs in each split and asserts that the three pairwise intersections are empty. It is three lines and it catches the most common leakage mistake.
THE ROW COUNTS:
Rows per split differ slightly from 70/15/15 because patients have different numbers of draws. The split is by patient, not by row.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TRAP:
About 0.6 percent of eligible draws are followed by a critical value. A model that always says "not critical" is right 99.4 percent of the time and catches nothing. So accuracy is not the metric here.
THE METRICS WE USE:
AUPRC, area under the precision-recall curve, is our primary metric. It focuses on how well the model finds the rare positives, and its no-skill baseline equals the positive rate, about 0.006. That makes it easy to read: 0.12 is twenty times better than chance.
AUROC measures how well scores rank positives above negatives. It looks reassuring on rare-event problems, in the 0.8s, and can hide poor precision.
Sensitivity is the share of critical draws that are caught. Specificity is the share of non-critical draws left alone. Together they describe an alert threshold's tradeoff.
HOW EACH MODEL HANDLES THE IMBALANCE:
The baseline uses class weight "balanced". The LSTM uses a positive-class weight in the loss, about 168 here, set from the ratio of negatives to positives in the training split. Both do the same job: stop the model from ignoring the rare class.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SIMPLE:
The baseline gives the LSTM something concrete to beat.
THE SNIPPET:
Line 1 creates a standard scaler. Line 2 fits it on the training split only and transforms the training features. Validation and test are transformed later with the same fitted scaler.
Next, a logistic regression with class weight "balanced", which up-weights the rare critical rows, and a higher iteration cap so it converges. Then fit.
THE RESULT:
On validation, AUPRC is about 0.121 and AUROC about 0.822. Training and validation scores are nearly identical, so it is not overfitting. Against a no-skill AUPRC of 0.006, 0.12 is real signal from three features.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An LSTM reads a sequence one step at a time and keeps a hidden state, a small vector that summarizes what it has seen so far. At each draw, it takes the three features, updates its hidden state, and outputs a probability that the next draw is critical.
PER-TIMESTEP PREDICTION:
The model outputs a prediction at every draw in the admission, using only information up to that draw. So one admission with ten draws gives ten training examples, and nothing from the future leaks in.
PADDING AND MASKING:
Admissions have different lengths, so we pad shorter ones to the longest in each batch. Padded positions are masked out of the loss and out of the metrics so they never influence training or scoring.
THE LENGTH CAP:
Admissions range from 3 to over 600 draws. A cap is set at the 95th percentile of training lengths, which is 26 draws, and keep the most recent draws for longer admissions, on the assumption that recent history matters most for near-term risk. This truncates about 5 percent of admissions. 
SAME FEATURES AS THE BASELINE:
The LSTM gets the same three inputs. Any difference in performance is due to seeing the sequence.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We compute binary cross-entropy per timestep, with reduction set to none so we keep one loss value per position. The positive weight, about 168, multiplies the loss on critical draws so the model cannot minimize loss by always predicting not critical.
THE MASK:
Multiply the per-step loss by the mask, which is 1 for real draws and 0 for padding, then divide by the number of real steps.
EARLY STOPPING:
After each epoch, evaluate AUPRC on the validation split. Keep a copy of the best weights. If validation AUPRC does not improve for three epochs, stop. At the end, restore the best weights.
THE MODEL:
One LSTM layer with hidden size 32 and a linear layer on top. Seeds are fixed at 42 so you can rerun and get comparable results.
THE RESULT:
Best validation AUPRC about 0.130 and AUROC about 0.839, slightly above the baseline's 0.121 and 0.822.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 models do not output probabilities on the same scale. The baseline's class weighting and the LSTM's positive weighting inflate probabilities differently. Look at 0.20 on the chart: the baseline catches about 92 percent of critical draws there, while the LSTM catches about 96 percent. 
</a:t>
            </a:r>
          </a:p>
          <a:p>
            <a:r>
              <a:rPr lang="en-US" dirty="0"/>
              <a:t>THE  QUESTION:
For the same share of critical values caught, which model raises fewer false alarms? 
SETTING THE OPERATING POINT:
Pick a sensitivity target, about 92 percent, a deliberately high-catch scenario. On validation, the baseline reaches 91.8 percent at a threshold of 0.20. We then sweep the LSTM's threshold and find where it matches that sensitivity, which is 0.23. We choose thresholds on validation only, so the test numbers stay honest.
WHAT THE 92% MEANS:
It is a choice, not a clinical requirement. A hospital might want 99 percent, which would mean far more alerts. The method works the same at any target.
THE CHART:
Sensitivity against threshold, validation split. The dashed line is the target. Where each curve crosses it gives each model's operating threshold. The dots mark the chosen operating points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IS:
Test split, scored once. Both operating points were chosen on validation: baseline threshold 0.20, LSTM threshold 0.23. Nothing was tuned afterward.
HOW TO READ THE TABLE:
The LSTM is higher on every row. AUPRC 0.123 against 0.099. AUROC 0.842 against 0.824. Sensitivity is about the same, 92.6 against 91.9, which is the point of matching. At that catch rate, specificity is 35 percent against 26.6 percent. 
THE ALERT-VOLUME VIEW:
Alerts per 1,000 draws is derived from sensitivity and specificity. At about 92 percent sensitivity, the baseline raises 735 alerts per 1,000 draws and the LSTM raises 652, which is 83 fewer. 
</a:t>
            </a:r>
          </a:p>
          <a:p>
            <a:r>
              <a:rPr lang="en-US" dirty="0"/>
              <a:t>IMPORTANT FRAMING:
Both numbers are still huge. Precision at this operating point is below 1 percent for both models. Neither is a deployable alert system. The finding is a relative reduction in alert burden.
WHY "SAME ROWS":
The baseline here is scored on exactly the rows the LSTM scored, after truncating long admissions.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CONFOUND:
The LSTM scores only each admission's most recent 26 draws, because of the length cap. The baseline, by default, scores every row. So the first comparison is not on identical rows, and the LSTM's evaluation population leaves out the early draws of long, probably sicker, admissions.
THE CHECK:
Re-score the baseline on exactly the rows the LSTM saw, 252,538 rows. Result: the baseline's AUPRC moves from 0.103 to 0.099, and AUROC from 0.819 to 0.824. Barely any change. So the cap does not appear to be what drives the LSTM's advantage</a:t>
            </a:r>
          </a:p>
          <a:p>
            <a:r>
              <a:rPr lang="en-US" dirty="0"/>
              <a:t>
WHAT THE CHECK DOES NOT FIX:
It fixes the scoring mismatch, not the fact that long-stay patients are only partly represented in the LSTM's evaluation. That stays in the limitations.
HOW MUCH WEIGHT THIS DESERVES:
The test split holds only about 1,500 critical draws in the matched rows, and this is one split from one training run. An AUPRC gap of 0.02 could partly be sampling noise.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CHART SHOWS:
Every point on a curve is one threshold. The x axis is the share of non-critical draws that get flagged, which is 1 minus specificity. The y axis is sensitivity. The dashed line is our 92 percent target.
HOW TO READ IT:
Pick a height, say the target. The curve that sits further left at that height flags fewer non-critical draws for the same share of critical values caught. In the target region, the LSTM curve sits to the left of the baseline, which matches the alert reduction on the previous slides.
THE SHAPE:
Both curves bend a lot. To catch the last few percent of critical draws, you flag a large share of everything else. That is the cost of a rare event and it is why precision stays low.
TECHNICAL NOTE:
The curves are plotted directly from the validation threshold sweeps, one point per threshold, and the dots mark each model's chosen operating point. The baseline is scored on all validation rows and the LSTM on its truncated rows, so the curves are close to, not exactly, row-matched.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RUN THIS:
To see whether the approach is specific to potassium. The pipeline is parameterized by analyte, so glucose is a config swap: itemid 50931, plausible range 10 to 1000 mg/dL, critical threshold 400.
SCOPE:
Glucose is bidirectional. Severe high and severe low glucose are separate emergencies, and severe hypoglycemia is arguably the more urgent one. This check models only the high side, next draw above 400. The 400 cutoff is reasonable but arbitrary, not a clinical standard. The critical rate is about 0.4 percent, lower than potassium, leaving fewer positive examples.
THE RESULT:
The LSTM did not improve on the baseline. Its AUPRC is lower, 0.059 against 0.079. AUROC is about the same, 0.807 against 0.797. Its specificity is higher, 32 against 26 percent, but its sensitivity is also a bit lower, 90.2 against 91.5, so the two operating points are not directly comparable.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TRUNCATION:
Capping sequences at the 95th percentile drops early draws from the longest, likely sickest and most monitored, admissions for the LSTM. The matched-row table fixes the scoring mismatch but not the fact that long-stay patients are only partly represented.
NEXT DRAW IS NOT NEXT HOUR:
The label is whether the next recorded draw is critical, however far away it is. A label like "critical within N hours" is clinically more useful but needs resampling to a regular time grid.
DRAW TIMING IS A SIGNAL:
Clinicians order repeat draws when they are worried, so hours since last draw partly encodes clinical suspicion, not just physiology.
UNSCALED INPUTS:
The baseline standardizes its features. The LSTM was trained on raw values. Standardizing might change the LSTM's results, so the reported gap could be an under- or over-estimate. This matters most for glucose.
NOT DEPLOYABLE:
Precision at about 92 percent sensitivity is below 1 percent for both models. The finding is a relative reduction in false alarms.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MODELING HELPED ON POTASSIUM, MODESTLY.
At the same catch rate, about 92 percent, the LSTM raised about 83 fewer alerts per 1,000 draws than the baseline. That is a relative improvement with real uncertainty, from one split and one run.
IT DID NOT HELP ON GLUCOSE.
Same pipeline, same approach, and the LSTM's AUPRC was lower than the baseline's. Do not assume a result on one analyte carries to another.
DESIGN DECISIONS MATTERED AS MUCH AS THE MODEL.
Admission-scoped sequences, plausibility filtering, patient-level splits, and comparing at matched sensitivity rather than at the same threshold value. Any one of these done carelessly would have changed the story. If you take one habit from this tutorial: write down the unit of your data, your split, and your comparison before you pick the model.
NEITHER MODEL IS DEPLOYABLE.
Precision is below 1 percent. What you can reuse is the method for setting up and judging a rare-event sequence problem.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B0B0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0B0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371600"/>
            <a:ext cx="7680960" cy="1463040"/>
          </a:xfrm>
          <a:prstGeom prst="rect">
            <a:avLst/>
          </a:prstGeom>
          <a:noFill/>
          <a:ln/>
        </p:spPr>
        <p:txBody>
          <a:bodyPr wrap="square" lIns="0" tIns="0" rIns="0" bIns="0" rtlCol="0" anchor="b"/>
          <a:lstStyle/>
          <a:p>
            <a:pPr marL="0" indent="0" algn="l">
              <a:buNone/>
            </a:pPr>
            <a:r>
              <a:rPr lang="en-US" sz="4400" b="1" dirty="0">
                <a:solidFill>
                  <a:schemeClr val="tx1"/>
                </a:solidFill>
              </a:rPr>
              <a:t>Predicting Critical Lab Values from Draw History</a:t>
            </a:r>
            <a:endParaRPr lang="en-US" sz="4400" dirty="0"/>
          </a:p>
        </p:txBody>
      </p:sp>
      <p:sp>
        <p:nvSpPr>
          <p:cNvPr id="3" name="Subtitle"/>
          <p:cNvSpPr txBox="1"/>
          <p:nvPr/>
        </p:nvSpPr>
        <p:spPr>
          <a:xfrm>
            <a:off x="731520" y="2971800"/>
            <a:ext cx="7680960" cy="548640"/>
          </a:xfrm>
          <a:prstGeom prst="rect">
            <a:avLst/>
          </a:prstGeom>
          <a:noFill/>
          <a:ln/>
        </p:spPr>
        <p:txBody>
          <a:bodyPr wrap="square" lIns="0" tIns="0" rIns="0" bIns="0" rtlCol="0" anchor="t"/>
          <a:lstStyle/>
          <a:p>
            <a:pPr marL="0" indent="0" algn="l">
              <a:buNone/>
            </a:pPr>
            <a:r>
              <a:rPr lang="en-US" sz="2200" dirty="0">
                <a:solidFill>
                  <a:schemeClr val="accent1"/>
                </a:solidFill>
              </a:rPr>
              <a:t>Logistic regression vs. an LSTM on MIMIC-IV</a:t>
            </a:r>
            <a:endParaRPr lang="en-US" sz="2200" dirty="0"/>
          </a:p>
        </p:txBody>
      </p:sp>
      <p:sp>
        <p:nvSpPr>
          <p:cNvPr id="4" name="Footer line"/>
          <p:cNvSpPr txBox="1"/>
          <p:nvPr/>
        </p:nvSpPr>
        <p:spPr>
          <a:xfrm>
            <a:off x="731520" y="4434840"/>
            <a:ext cx="7680960" cy="320040"/>
          </a:xfrm>
          <a:prstGeom prst="rect">
            <a:avLst/>
          </a:prstGeom>
          <a:noFill/>
          <a:ln/>
        </p:spPr>
        <p:txBody>
          <a:bodyPr wrap="square" lIns="0" tIns="0" rIns="0" bIns="0" rtlCol="0" anchor="ctr"/>
          <a:lstStyle/>
          <a:p>
            <a:pPr marL="0" indent="0" algn="l">
              <a:buNone/>
            </a:pPr>
            <a:r>
              <a:rPr lang="en-US" sz="1200" dirty="0">
                <a:solidFill>
                  <a:schemeClr val="tx2"/>
                </a:solidFill>
              </a:rPr>
              <a:t>AI for Healthcare  ·  Self-Learning Tutorial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Why predict the next critical value</a:t>
            </a:r>
            <a:endParaRPr lang="en-US" sz="3600" dirty="0"/>
          </a:p>
        </p:txBody>
      </p:sp>
      <p:sp>
        <p:nvSpPr>
          <p:cNvPr id="3" name="Statement"/>
          <p:cNvSpPr txBox="1"/>
          <p:nvPr/>
        </p:nvSpPr>
        <p:spPr>
          <a:xfrm>
            <a:off x="548640" y="1417320"/>
            <a:ext cx="4937760" cy="1188720"/>
          </a:xfrm>
          <a:prstGeom prst="rect">
            <a:avLst/>
          </a:prstGeom>
          <a:noFill/>
          <a:ln/>
        </p:spPr>
        <p:txBody>
          <a:bodyPr wrap="square" lIns="0" tIns="0" rIns="0" bIns="0" rtlCol="0" anchor="t"/>
          <a:lstStyle/>
          <a:p>
            <a:pPr marL="0" indent="0" algn="l">
              <a:buNone/>
            </a:pPr>
            <a:r>
              <a:rPr lang="en-US" sz="2800" dirty="0">
                <a:solidFill>
                  <a:schemeClr val="tx1"/>
                </a:solidFill>
              </a:rPr>
              <a:t>Critical results are rare, urgent, and costly to chase.</a:t>
            </a:r>
            <a:endParaRPr lang="en-US" sz="2800" dirty="0"/>
          </a:p>
        </p:txBody>
      </p:sp>
      <p:sp>
        <p:nvSpPr>
          <p:cNvPr id="4" name="Supporting points"/>
          <p:cNvSpPr txBox="1"/>
          <p:nvPr/>
        </p:nvSpPr>
        <p:spPr>
          <a:xfrm>
            <a:off x="548640" y="2834640"/>
            <a:ext cx="4937760" cy="146304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chemeClr val="tx1"/>
                </a:solidFill>
              </a:rPr>
              <a:t>Potassium &gt; 6.0 mEq/L can disrupt heart rhythm</a:t>
            </a:r>
            <a:endParaRPr lang="en-US" sz="1600" dirty="0"/>
          </a:p>
          <a:p>
            <a:pPr marL="342900" indent="-342900" algn="l">
              <a:spcAft>
                <a:spcPts val="1000"/>
              </a:spcAft>
              <a:buSzPct val="100000"/>
              <a:buChar char="•"/>
            </a:pPr>
            <a:r>
              <a:rPr lang="en-US" sz="1600" dirty="0">
                <a:solidFill>
                  <a:schemeClr val="tx1"/>
                </a:solidFill>
              </a:rPr>
              <a:t>Only 0.6% of draws are followed by a critical value</a:t>
            </a:r>
            <a:endParaRPr lang="en-US" sz="1600" dirty="0"/>
          </a:p>
          <a:p>
            <a:pPr marL="342900" indent="-342900" algn="l">
              <a:spcAft>
                <a:spcPts val="1000"/>
              </a:spcAft>
              <a:buSzPct val="100000"/>
              <a:buChar char="•"/>
            </a:pPr>
            <a:r>
              <a:rPr lang="en-US" sz="1600" dirty="0">
                <a:solidFill>
                  <a:schemeClr val="tx1"/>
                </a:solidFill>
              </a:rPr>
              <a:t>An alert that fires constantly gets ignored</a:t>
            </a:r>
            <a:endParaRPr lang="en-US" sz="1600" dirty="0"/>
          </a:p>
        </p:txBody>
      </p:sp>
      <p:sp>
        <p:nvSpPr>
          <p:cNvPr id="5" name="Stat card"/>
          <p:cNvSpPr/>
          <p:nvPr/>
        </p:nvSpPr>
        <p:spPr>
          <a:xfrm>
            <a:off x="5943600" y="1417320"/>
            <a:ext cx="2651760" cy="2834640"/>
          </a:xfrm>
          <a:prstGeom prst="roundRect">
            <a:avLst>
              <a:gd name="adj" fmla="val 4138"/>
            </a:avLst>
          </a:prstGeom>
          <a:solidFill>
            <a:schemeClr val="bg2"/>
          </a:solidFill>
          <a:ln/>
        </p:spPr>
      </p:sp>
      <p:sp>
        <p:nvSpPr>
          <p:cNvPr id="6" name="Big number"/>
          <p:cNvSpPr txBox="1"/>
          <p:nvPr/>
        </p:nvSpPr>
        <p:spPr>
          <a:xfrm>
            <a:off x="5943600" y="1920240"/>
            <a:ext cx="2651760" cy="1097280"/>
          </a:xfrm>
          <a:prstGeom prst="rect">
            <a:avLst/>
          </a:prstGeom>
          <a:noFill/>
          <a:ln/>
        </p:spPr>
        <p:txBody>
          <a:bodyPr wrap="square" lIns="0" tIns="0" rIns="0" bIns="0" rtlCol="0" anchor="ctr"/>
          <a:lstStyle/>
          <a:p>
            <a:pPr marL="0" indent="0" algn="ctr">
              <a:buNone/>
            </a:pPr>
            <a:r>
              <a:rPr lang="en-US" sz="6000" b="1" dirty="0">
                <a:solidFill>
                  <a:schemeClr val="accent1"/>
                </a:solidFill>
              </a:rPr>
              <a:t>0.6%</a:t>
            </a:r>
            <a:endParaRPr lang="en-US" sz="6000" dirty="0"/>
          </a:p>
        </p:txBody>
      </p:sp>
      <p:sp>
        <p:nvSpPr>
          <p:cNvPr id="7" name="Big number caption"/>
          <p:cNvSpPr txBox="1"/>
          <p:nvPr/>
        </p:nvSpPr>
        <p:spPr>
          <a:xfrm>
            <a:off x="6172200" y="3063240"/>
            <a:ext cx="2194560" cy="822960"/>
          </a:xfrm>
          <a:prstGeom prst="rect">
            <a:avLst/>
          </a:prstGeom>
          <a:noFill/>
          <a:ln/>
        </p:spPr>
        <p:txBody>
          <a:bodyPr wrap="square" lIns="0" tIns="0" rIns="0" bIns="0" rtlCol="0" anchor="t"/>
          <a:lstStyle/>
          <a:p>
            <a:pPr marL="0" indent="0" algn="ctr">
              <a:buNone/>
            </a:pPr>
            <a:r>
              <a:rPr lang="en-US" sz="1400" dirty="0">
                <a:solidFill>
                  <a:schemeClr val="tx2"/>
                </a:solidFill>
              </a:rPr>
              <a:t>of eligible draws are followed by a critical potassium</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The question and the two models</a:t>
            </a:r>
            <a:endParaRPr lang="en-US" sz="3600" dirty="0"/>
          </a:p>
        </p:txBody>
      </p:sp>
      <p:sp>
        <p:nvSpPr>
          <p:cNvPr id="3" name="Question"/>
          <p:cNvSpPr txBox="1"/>
          <p:nvPr/>
        </p:nvSpPr>
        <p:spPr>
          <a:xfrm>
            <a:off x="548640" y="1234440"/>
            <a:ext cx="8046720" cy="822960"/>
          </a:xfrm>
          <a:prstGeom prst="rect">
            <a:avLst/>
          </a:prstGeom>
          <a:noFill/>
          <a:ln/>
        </p:spPr>
        <p:txBody>
          <a:bodyPr wrap="square" lIns="0" tIns="0" rIns="0" bIns="0" rtlCol="0" anchor="t"/>
          <a:lstStyle/>
          <a:p>
            <a:pPr marL="0" indent="0" algn="l">
              <a:buNone/>
            </a:pPr>
            <a:r>
              <a:rPr lang="en-US" sz="2200" dirty="0">
                <a:solidFill>
                  <a:schemeClr val="tx1"/>
                </a:solidFill>
              </a:rPr>
              <a:t>Given a patient's recent draws in an admission,</a:t>
            </a:r>
            <a:endParaRPr lang="en-US" sz="2200" dirty="0"/>
          </a:p>
          <a:p>
            <a:pPr marL="0" indent="0" algn="l">
              <a:buNone/>
            </a:pPr>
            <a:r>
              <a:rPr lang="en-US" sz="2200" dirty="0">
                <a:solidFill>
                  <a:schemeClr val="tx1"/>
                </a:solidFill>
              </a:rPr>
              <a:t>will the next draw be critical?</a:t>
            </a:r>
            <a:endParaRPr lang="en-US" sz="2200" dirty="0"/>
          </a:p>
        </p:txBody>
      </p:sp>
      <p:sp>
        <p:nvSpPr>
          <p:cNvPr id="4" name="Card 1"/>
          <p:cNvSpPr/>
          <p:nvPr/>
        </p:nvSpPr>
        <p:spPr>
          <a:xfrm>
            <a:off x="548640" y="2240280"/>
            <a:ext cx="3886200" cy="1783080"/>
          </a:xfrm>
          <a:prstGeom prst="roundRect">
            <a:avLst>
              <a:gd name="adj" fmla="val 6154"/>
            </a:avLst>
          </a:prstGeom>
          <a:solidFill>
            <a:schemeClr val="bg2"/>
          </a:solidFill>
          <a:ln/>
        </p:spPr>
      </p:sp>
      <p:sp>
        <p:nvSpPr>
          <p:cNvPr id="5" name="Card 1 heading"/>
          <p:cNvSpPr txBox="1"/>
          <p:nvPr/>
        </p:nvSpPr>
        <p:spPr>
          <a:xfrm>
            <a:off x="822960" y="2468880"/>
            <a:ext cx="3337560" cy="457200"/>
          </a:xfrm>
          <a:prstGeom prst="rect">
            <a:avLst/>
          </a:prstGeom>
          <a:noFill/>
          <a:ln/>
        </p:spPr>
        <p:txBody>
          <a:bodyPr wrap="square" lIns="0" tIns="0" rIns="0" bIns="0" rtlCol="0" anchor="t"/>
          <a:lstStyle/>
          <a:p>
            <a:pPr marL="0" indent="0" algn="l">
              <a:buNone/>
            </a:pPr>
            <a:r>
              <a:rPr lang="en-US" sz="2400" b="1" dirty="0">
                <a:solidFill>
                  <a:schemeClr val="tx2"/>
                </a:solidFill>
              </a:rPr>
              <a:t>Baseline</a:t>
            </a:r>
            <a:endParaRPr lang="en-US" sz="2400" dirty="0"/>
          </a:p>
        </p:txBody>
      </p:sp>
      <p:sp>
        <p:nvSpPr>
          <p:cNvPr id="6" name="Card 1 body"/>
          <p:cNvSpPr txBox="1"/>
          <p:nvPr/>
        </p:nvSpPr>
        <p:spPr>
          <a:xfrm>
            <a:off x="822960" y="3017520"/>
            <a:ext cx="3337560" cy="822960"/>
          </a:xfrm>
          <a:prstGeom prst="rect">
            <a:avLst/>
          </a:prstGeom>
          <a:noFill/>
          <a:ln/>
        </p:spPr>
        <p:txBody>
          <a:bodyPr wrap="square" lIns="0" tIns="0" rIns="0" bIns="0" rtlCol="0" anchor="t"/>
          <a:lstStyle/>
          <a:p>
            <a:pPr marL="0" indent="0" algn="l">
              <a:buNone/>
            </a:pPr>
            <a:r>
              <a:rPr lang="en-US" sz="1600" dirty="0">
                <a:solidFill>
                  <a:schemeClr val="tx1"/>
                </a:solidFill>
              </a:rPr>
              <a:t>Logistic regression.</a:t>
            </a:r>
            <a:endParaRPr lang="en-US" sz="1600" dirty="0"/>
          </a:p>
          <a:p>
            <a:pPr marL="0" indent="0" algn="l">
              <a:buNone/>
            </a:pPr>
            <a:r>
              <a:rPr lang="en-US" sz="1600" dirty="0">
                <a:solidFill>
                  <a:schemeClr val="tx1"/>
                </a:solidFill>
              </a:rPr>
              <a:t>Sees the current draw's summary only.</a:t>
            </a:r>
            <a:endParaRPr lang="en-US" sz="1600" dirty="0"/>
          </a:p>
        </p:txBody>
      </p:sp>
      <p:sp>
        <p:nvSpPr>
          <p:cNvPr id="7" name="Card 2"/>
          <p:cNvSpPr/>
          <p:nvPr/>
        </p:nvSpPr>
        <p:spPr>
          <a:xfrm>
            <a:off x="4709160" y="2240280"/>
            <a:ext cx="3886200" cy="1783080"/>
          </a:xfrm>
          <a:prstGeom prst="roundRect">
            <a:avLst>
              <a:gd name="adj" fmla="val 6154"/>
            </a:avLst>
          </a:prstGeom>
          <a:solidFill>
            <a:schemeClr val="bg2"/>
          </a:solidFill>
          <a:ln/>
        </p:spPr>
      </p:sp>
      <p:sp>
        <p:nvSpPr>
          <p:cNvPr id="8" name="Card 2 heading"/>
          <p:cNvSpPr txBox="1"/>
          <p:nvPr/>
        </p:nvSpPr>
        <p:spPr>
          <a:xfrm>
            <a:off x="4983480" y="2468880"/>
            <a:ext cx="3337560" cy="457200"/>
          </a:xfrm>
          <a:prstGeom prst="rect">
            <a:avLst/>
          </a:prstGeom>
          <a:noFill/>
          <a:ln/>
        </p:spPr>
        <p:txBody>
          <a:bodyPr wrap="square" lIns="0" tIns="0" rIns="0" bIns="0" rtlCol="0" anchor="t"/>
          <a:lstStyle/>
          <a:p>
            <a:pPr marL="0" indent="0" algn="l">
              <a:buNone/>
            </a:pPr>
            <a:r>
              <a:rPr lang="en-US" sz="2400" b="1" dirty="0">
                <a:solidFill>
                  <a:schemeClr val="accent1"/>
                </a:solidFill>
              </a:rPr>
              <a:t>LSTM</a:t>
            </a:r>
            <a:endParaRPr lang="en-US" sz="2400" dirty="0"/>
          </a:p>
        </p:txBody>
      </p:sp>
      <p:sp>
        <p:nvSpPr>
          <p:cNvPr id="9" name="Card 2 body"/>
          <p:cNvSpPr txBox="1"/>
          <p:nvPr/>
        </p:nvSpPr>
        <p:spPr>
          <a:xfrm>
            <a:off x="4983480" y="3017520"/>
            <a:ext cx="3337560" cy="822960"/>
          </a:xfrm>
          <a:prstGeom prst="rect">
            <a:avLst/>
          </a:prstGeom>
          <a:noFill/>
          <a:ln/>
        </p:spPr>
        <p:txBody>
          <a:bodyPr wrap="square" lIns="0" tIns="0" rIns="0" bIns="0" rtlCol="0" anchor="t"/>
          <a:lstStyle/>
          <a:p>
            <a:pPr marL="0" indent="0" algn="l">
              <a:buNone/>
            </a:pPr>
            <a:r>
              <a:rPr lang="en-US" sz="1600" dirty="0">
                <a:solidFill>
                  <a:schemeClr val="tx1"/>
                </a:solidFill>
              </a:rPr>
              <a:t>Recurrent neural network.</a:t>
            </a:r>
            <a:endParaRPr lang="en-US" sz="1600" dirty="0"/>
          </a:p>
          <a:p>
            <a:pPr marL="0" indent="0" algn="l">
              <a:buNone/>
            </a:pPr>
            <a:r>
              <a:rPr lang="en-US" sz="1600" dirty="0">
                <a:solidFill>
                  <a:schemeClr val="tx1"/>
                </a:solidFill>
              </a:rPr>
              <a:t>Sees the whole sequence of draws in the admission.</a:t>
            </a:r>
            <a:endParaRPr lang="en-US" sz="1600" dirty="0"/>
          </a:p>
        </p:txBody>
      </p:sp>
      <p:sp>
        <p:nvSpPr>
          <p:cNvPr id="10" name="Bottom line"/>
          <p:cNvSpPr txBox="1"/>
          <p:nvPr/>
        </p:nvSpPr>
        <p:spPr>
          <a:xfrm>
            <a:off x="548640" y="4251960"/>
            <a:ext cx="8046720" cy="365760"/>
          </a:xfrm>
          <a:prstGeom prst="rect">
            <a:avLst/>
          </a:prstGeom>
          <a:noFill/>
          <a:ln/>
        </p:spPr>
        <p:txBody>
          <a:bodyPr wrap="square" lIns="0" tIns="0" rIns="0" bIns="0" rtlCol="0" anchor="ctr"/>
          <a:lstStyle/>
          <a:p>
            <a:pPr marL="0" indent="0" algn="l">
              <a:buNone/>
            </a:pPr>
            <a:r>
              <a:rPr lang="en-US" sz="1400" dirty="0">
                <a:solidFill>
                  <a:schemeClr val="tx2"/>
                </a:solidFill>
              </a:rPr>
              <a:t>Same three input features. Same data. Same split. Only the model changes.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The data</a:t>
            </a:r>
            <a:endParaRPr lang="en-US" sz="3600" dirty="0"/>
          </a:p>
        </p:txBody>
      </p:sp>
      <p:sp>
        <p:nvSpPr>
          <p:cNvPr id="3" name="Data points"/>
          <p:cNvSpPr txBox="1"/>
          <p:nvPr/>
        </p:nvSpPr>
        <p:spPr>
          <a:xfrm>
            <a:off x="548640" y="1371600"/>
            <a:ext cx="4754880" cy="2926080"/>
          </a:xfrm>
          <a:prstGeom prst="rect">
            <a:avLst/>
          </a:prstGeom>
          <a:noFill/>
          <a:ln/>
        </p:spPr>
        <p:txBody>
          <a:bodyPr wrap="square" lIns="0" tIns="0" rIns="0" bIns="0" rtlCol="0" anchor="t"/>
          <a:lstStyle/>
          <a:p>
            <a:pPr marL="342900" indent="-342900" algn="l">
              <a:spcAft>
                <a:spcPts val="1400"/>
              </a:spcAft>
              <a:buSzPct val="100000"/>
              <a:buChar char="•"/>
            </a:pPr>
            <a:r>
              <a:rPr lang="en-US" sz="1800" dirty="0">
                <a:solidFill>
                  <a:schemeClr val="tx1"/>
                </a:solidFill>
              </a:rPr>
              <a:t>MIMIC-IV v3.1 lab events, queried in BigQuery</a:t>
            </a:r>
            <a:endParaRPr lang="en-US" sz="1800" dirty="0"/>
          </a:p>
          <a:p>
            <a:pPr marL="342900" indent="-342900" algn="l">
              <a:spcAft>
                <a:spcPts val="1400"/>
              </a:spcAft>
              <a:buSzPct val="100000"/>
              <a:buChar char="•"/>
            </a:pPr>
            <a:r>
              <a:rPr lang="en-US" sz="1800" dirty="0">
                <a:solidFill>
                  <a:schemeClr val="tx1"/>
                </a:solidFill>
              </a:rPr>
              <a:t>One itemid: serum/plasma potassium (50971)</a:t>
            </a:r>
            <a:endParaRPr lang="en-US" sz="1800" dirty="0"/>
          </a:p>
          <a:p>
            <a:pPr marL="342900" indent="-342900" algn="l">
              <a:spcAft>
                <a:spcPts val="1400"/>
              </a:spcAft>
              <a:buSzPct val="100000"/>
              <a:buChar char="•"/>
            </a:pPr>
            <a:r>
              <a:rPr lang="en-US" sz="1800" dirty="0">
                <a:solidFill>
                  <a:schemeClr val="tx1"/>
                </a:solidFill>
              </a:rPr>
              <a:t>Plausible range 1.0–10.0 mEq/L; data-entry errors dropped</a:t>
            </a:r>
            <a:endParaRPr lang="en-US" sz="1800" dirty="0"/>
          </a:p>
          <a:p>
            <a:pPr marL="342900" indent="-342900" algn="l">
              <a:spcAft>
                <a:spcPts val="1400"/>
              </a:spcAft>
              <a:buSzPct val="100000"/>
              <a:buChar char="•"/>
            </a:pPr>
            <a:r>
              <a:rPr lang="en-US" sz="1800" dirty="0">
                <a:solidFill>
                  <a:schemeClr val="tx1"/>
                </a:solidFill>
              </a:rPr>
              <a:t>Inpatient draws only (an admission ID is required)</a:t>
            </a:r>
            <a:endParaRPr lang="en-US" sz="1800" dirty="0"/>
          </a:p>
        </p:txBody>
      </p:sp>
      <p:sp>
        <p:nvSpPr>
          <p:cNvPr id="4" name="Stat card rows"/>
          <p:cNvSpPr/>
          <p:nvPr/>
        </p:nvSpPr>
        <p:spPr>
          <a:xfrm>
            <a:off x="5760720" y="1371600"/>
            <a:ext cx="2834640" cy="1371600"/>
          </a:xfrm>
          <a:prstGeom prst="roundRect">
            <a:avLst>
              <a:gd name="adj" fmla="val 8000"/>
            </a:avLst>
          </a:prstGeom>
          <a:solidFill>
            <a:schemeClr val="bg2"/>
          </a:solidFill>
          <a:ln/>
        </p:spPr>
      </p:sp>
      <p:sp>
        <p:nvSpPr>
          <p:cNvPr id="5" name="Rows number"/>
          <p:cNvSpPr txBox="1"/>
          <p:nvPr/>
        </p:nvSpPr>
        <p:spPr>
          <a:xfrm>
            <a:off x="5760720" y="1536192"/>
            <a:ext cx="2834640" cy="548640"/>
          </a:xfrm>
          <a:prstGeom prst="rect">
            <a:avLst/>
          </a:prstGeom>
          <a:noFill/>
          <a:ln/>
        </p:spPr>
        <p:txBody>
          <a:bodyPr wrap="square" lIns="0" tIns="0" rIns="0" bIns="0" rtlCol="0" anchor="t"/>
          <a:lstStyle/>
          <a:p>
            <a:pPr marL="0" indent="0" algn="ctr">
              <a:buNone/>
            </a:pPr>
            <a:r>
              <a:rPr lang="en-US" sz="3400" b="1" dirty="0">
                <a:solidFill>
                  <a:schemeClr val="accent1"/>
                </a:solidFill>
              </a:rPr>
              <a:t>1,913,070</a:t>
            </a:r>
            <a:endParaRPr lang="en-US" sz="3400" dirty="0"/>
          </a:p>
        </p:txBody>
      </p:sp>
      <p:sp>
        <p:nvSpPr>
          <p:cNvPr id="6" name="Rows caption"/>
          <p:cNvSpPr txBox="1"/>
          <p:nvPr/>
        </p:nvSpPr>
        <p:spPr>
          <a:xfrm>
            <a:off x="5943600" y="2148840"/>
            <a:ext cx="2468880" cy="502920"/>
          </a:xfrm>
          <a:prstGeom prst="rect">
            <a:avLst/>
          </a:prstGeom>
          <a:noFill/>
          <a:ln/>
        </p:spPr>
        <p:txBody>
          <a:bodyPr wrap="square" lIns="0" tIns="0" rIns="0" bIns="0" rtlCol="0" anchor="t"/>
          <a:lstStyle/>
          <a:p>
            <a:pPr marL="0" indent="0" algn="ctr">
              <a:buNone/>
            </a:pPr>
            <a:r>
              <a:rPr lang="en-US" sz="1300" dirty="0">
                <a:solidFill>
                  <a:schemeClr val="tx2"/>
                </a:solidFill>
              </a:rPr>
              <a:t>draws with a prior and a next value</a:t>
            </a:r>
            <a:endParaRPr lang="en-US" sz="1300" dirty="0"/>
          </a:p>
        </p:txBody>
      </p:sp>
      <p:sp>
        <p:nvSpPr>
          <p:cNvPr id="7" name="Stat card patients"/>
          <p:cNvSpPr/>
          <p:nvPr/>
        </p:nvSpPr>
        <p:spPr>
          <a:xfrm>
            <a:off x="5760720" y="2926080"/>
            <a:ext cx="2834640" cy="1371600"/>
          </a:xfrm>
          <a:prstGeom prst="roundRect">
            <a:avLst>
              <a:gd name="adj" fmla="val 8000"/>
            </a:avLst>
          </a:prstGeom>
          <a:solidFill>
            <a:schemeClr val="bg2"/>
          </a:solidFill>
          <a:ln/>
        </p:spPr>
      </p:sp>
      <p:sp>
        <p:nvSpPr>
          <p:cNvPr id="8" name="Patients number"/>
          <p:cNvSpPr txBox="1"/>
          <p:nvPr/>
        </p:nvSpPr>
        <p:spPr>
          <a:xfrm>
            <a:off x="5760720" y="3090672"/>
            <a:ext cx="2834640" cy="548640"/>
          </a:xfrm>
          <a:prstGeom prst="rect">
            <a:avLst/>
          </a:prstGeom>
          <a:noFill/>
          <a:ln/>
        </p:spPr>
        <p:txBody>
          <a:bodyPr wrap="square" lIns="0" tIns="0" rIns="0" bIns="0" rtlCol="0" anchor="t"/>
          <a:lstStyle/>
          <a:p>
            <a:pPr marL="0" indent="0" algn="ctr">
              <a:buNone/>
            </a:pPr>
            <a:r>
              <a:rPr lang="en-US" sz="3400" b="1" dirty="0">
                <a:solidFill>
                  <a:schemeClr val="accent1"/>
                </a:solidFill>
              </a:rPr>
              <a:t>121,440</a:t>
            </a:r>
            <a:endParaRPr lang="en-US" sz="3400" dirty="0"/>
          </a:p>
        </p:txBody>
      </p:sp>
      <p:sp>
        <p:nvSpPr>
          <p:cNvPr id="9" name="Patients caption"/>
          <p:cNvSpPr txBox="1"/>
          <p:nvPr/>
        </p:nvSpPr>
        <p:spPr>
          <a:xfrm>
            <a:off x="5943600" y="3703320"/>
            <a:ext cx="2468880" cy="502920"/>
          </a:xfrm>
          <a:prstGeom prst="rect">
            <a:avLst/>
          </a:prstGeom>
          <a:noFill/>
          <a:ln/>
        </p:spPr>
        <p:txBody>
          <a:bodyPr wrap="square" lIns="0" tIns="0" rIns="0" bIns="0" rtlCol="0" anchor="t"/>
          <a:lstStyle/>
          <a:p>
            <a:pPr marL="0" indent="0" algn="ctr">
              <a:buNone/>
            </a:pPr>
            <a:r>
              <a:rPr lang="en-US" sz="1300" dirty="0">
                <a:solidFill>
                  <a:schemeClr val="tx2"/>
                </a:solidFill>
              </a:rPr>
              <a:t>patients with an admission of 3+ valid draws</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Label and features</a:t>
            </a:r>
            <a:endParaRPr lang="en-US" sz="3600" dirty="0"/>
          </a:p>
        </p:txBody>
      </p:sp>
      <p:sp>
        <p:nvSpPr>
          <p:cNvPr id="3" name="Features line"/>
          <p:cNvSpPr txBox="1"/>
          <p:nvPr/>
        </p:nvSpPr>
        <p:spPr>
          <a:xfrm>
            <a:off x="548640" y="1234440"/>
            <a:ext cx="8046720" cy="640080"/>
          </a:xfrm>
          <a:prstGeom prst="rect">
            <a:avLst/>
          </a:prstGeom>
          <a:noFill/>
          <a:ln/>
        </p:spPr>
        <p:txBody>
          <a:bodyPr wrap="square" lIns="0" tIns="0" rIns="0" bIns="0" rtlCol="0" anchor="t"/>
          <a:lstStyle/>
          <a:p>
            <a:pPr marL="0" indent="0" algn="l">
              <a:buNone/>
            </a:pPr>
            <a:r>
              <a:rPr lang="en-US" sz="1800" dirty="0">
                <a:solidFill>
                  <a:schemeClr val="tx1"/>
                </a:solidFill>
              </a:rPr>
              <a:t>Features at each draw: value, change since last draw, hours since last draw</a:t>
            </a:r>
            <a:endParaRPr lang="en-US" sz="1800" dirty="0"/>
          </a:p>
        </p:txBody>
      </p:sp>
      <p:graphicFrame>
        <p:nvGraphicFramePr>
          <p:cNvPr id="6" name="Illustrative table"/>
          <p:cNvGraphicFramePr>
            <a:graphicFrameLocks noGrp="1"/>
          </p:cNvGraphicFramePr>
          <p:nvPr>
            <p:extLst>
              <p:ext uri="{D42A27DB-BD31-4B8C-83A1-F6EECF244321}">
                <p14:modId xmlns:p14="http://schemas.microsoft.com/office/powerpoint/2010/main" val="1579011935"/>
              </p:ext>
            </p:extLst>
          </p:nvPr>
        </p:nvGraphicFramePr>
        <p:xfrm>
          <a:off x="548640" y="2011680"/>
          <a:ext cx="8046720" cy="2194560"/>
        </p:xfrm>
        <a:graphic>
          <a:graphicData uri="http://schemas.openxmlformats.org/drawingml/2006/table">
            <a:tbl>
              <a:tblPr/>
              <a:tblGrid>
                <a:gridCol w="822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438912">
                <a:tc>
                  <a:txBody>
                    <a:bodyPr/>
                    <a:lstStyle/>
                    <a:p>
                      <a:pPr marL="0" indent="0">
                        <a:buNone/>
                      </a:pPr>
                      <a:r>
                        <a:rPr lang="en-US" sz="1300" b="1" dirty="0">
                          <a:solidFill>
                            <a:schemeClr val="tx2"/>
                          </a:solidFill>
                        </a:rPr>
                        <a:t>Draw</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buNone/>
                      </a:pPr>
                      <a:r>
                        <a:rPr lang="en-US" sz="1300" b="1" dirty="0">
                          <a:solidFill>
                            <a:schemeClr val="tx2"/>
                          </a:solidFill>
                        </a:rPr>
                        <a:t>Value (mEq/L)</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buNone/>
                      </a:pPr>
                      <a:r>
                        <a:rPr lang="en-US" sz="1300" b="1" dirty="0">
                          <a:solidFill>
                            <a:schemeClr val="tx2"/>
                          </a:solidFill>
                        </a:rPr>
                        <a:t>Hours since last</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buNone/>
                      </a:pPr>
                      <a:r>
                        <a:rPr lang="en-US" sz="1300" b="1" dirty="0">
                          <a:solidFill>
                            <a:schemeClr val="tx2"/>
                          </a:solidFill>
                        </a:rPr>
                        <a:t>Change</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buNone/>
                      </a:pPr>
                      <a:r>
                        <a:rPr lang="en-US" sz="1300" b="1" dirty="0">
                          <a:solidFill>
                            <a:schemeClr val="tx2"/>
                          </a:solidFill>
                        </a:rPr>
                        <a:t>Next draw critical (&gt; 6.0)?</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0"/>
                  </a:ext>
                </a:extLst>
              </a:tr>
              <a:tr h="438912">
                <a:tc>
                  <a:txBody>
                    <a:bodyPr/>
                    <a:lstStyle/>
                    <a:p>
                      <a:pPr marL="0" indent="0">
                        <a:buNone/>
                      </a:pPr>
                      <a:r>
                        <a:rPr lang="en-US" sz="1400" dirty="0">
                          <a:solidFill>
                            <a:schemeClr val="tx1"/>
                          </a:solidFill>
                        </a:rPr>
                        <a:t>1</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4.1</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2"/>
                          </a:solidFill>
                        </a:rPr>
                        <a:t>–</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2"/>
                          </a:solidFill>
                        </a:rPr>
                        <a:t>–</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2"/>
                          </a:solidFill>
                        </a:rPr>
                        <a:t>excluded: no prior value</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400" dirty="0">
                          <a:solidFill>
                            <a:schemeClr val="tx1"/>
                          </a:solidFill>
                        </a:rPr>
                        <a:t>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4.6</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12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+0.5</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No (0)</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400" dirty="0">
                          <a:solidFill>
                            <a:schemeClr val="tx1"/>
                          </a:solidFill>
                        </a:rPr>
                        <a:t>3</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5.3</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8</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+0.7</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b="1" dirty="0">
                          <a:solidFill>
                            <a:schemeClr val="accent1"/>
                          </a:solidFill>
                        </a:rPr>
                        <a:t>Yes (1): next value is 6.2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400" dirty="0">
                          <a:solidFill>
                            <a:schemeClr val="tx1"/>
                          </a:solidFill>
                        </a:rPr>
                        <a:t>4</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6.2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6</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+0.9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2"/>
                          </a:solidFill>
                        </a:rPr>
                        <a:t>excluded: no next value</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Illustrative caption"/>
          <p:cNvSpPr txBox="1"/>
          <p:nvPr/>
        </p:nvSpPr>
        <p:spPr>
          <a:xfrm>
            <a:off x="548640" y="4343400"/>
            <a:ext cx="8046720" cy="274320"/>
          </a:xfrm>
          <a:prstGeom prst="rect">
            <a:avLst/>
          </a:prstGeom>
          <a:noFill/>
          <a:ln/>
        </p:spPr>
        <p:txBody>
          <a:bodyPr wrap="square" lIns="0" tIns="0" rIns="0" bIns="0" rtlCol="0" anchor="t"/>
          <a:lstStyle/>
          <a:p>
            <a:pPr marL="0" indent="0" algn="l">
              <a:buNone/>
            </a:pPr>
            <a:r>
              <a:rPr lang="en-US" sz="1200" dirty="0">
                <a:solidFill>
                  <a:schemeClr val="tx2"/>
                </a:solidFill>
              </a:rPr>
              <a:t>Illustrative values for one made-up admission. Not patient data.</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Sequences stay inside one admission</a:t>
            </a:r>
            <a:endParaRPr lang="en-US" sz="3600" dirty="0"/>
          </a:p>
        </p:txBody>
      </p:sp>
      <p:sp>
        <p:nvSpPr>
          <p:cNvPr id="3" name="Wrong label"/>
          <p:cNvSpPr txBox="1"/>
          <p:nvPr/>
        </p:nvSpPr>
        <p:spPr>
          <a:xfrm>
            <a:off x="548640" y="1280160"/>
            <a:ext cx="4572000" cy="320040"/>
          </a:xfrm>
          <a:prstGeom prst="rect">
            <a:avLst/>
          </a:prstGeom>
          <a:noFill/>
          <a:ln/>
        </p:spPr>
        <p:txBody>
          <a:bodyPr wrap="square" lIns="0" tIns="0" rIns="0" bIns="0" rtlCol="0" anchor="t"/>
          <a:lstStyle/>
          <a:p>
            <a:pPr marL="0" indent="0" algn="l">
              <a:buNone/>
            </a:pPr>
            <a:r>
              <a:rPr lang="en-US" sz="1600" b="1" dirty="0">
                <a:solidFill>
                  <a:schemeClr val="tx2"/>
                </a:solidFill>
              </a:rPr>
              <a:t>Grouped by patient (early version)</a:t>
            </a:r>
            <a:endParaRPr lang="en-US" sz="1600" dirty="0"/>
          </a:p>
        </p:txBody>
      </p:sp>
      <p:sp>
        <p:nvSpPr>
          <p:cNvPr id="4" name="Draw dot"/>
          <p:cNvSpPr/>
          <p:nvPr/>
        </p:nvSpPr>
        <p:spPr>
          <a:xfrm>
            <a:off x="731520" y="1828800"/>
            <a:ext cx="201168" cy="201168"/>
          </a:xfrm>
          <a:prstGeom prst="ellipse">
            <a:avLst/>
          </a:prstGeom>
          <a:solidFill>
            <a:srgbClr val="9A9AA0"/>
          </a:solidFill>
          <a:ln/>
        </p:spPr>
      </p:sp>
      <p:sp>
        <p:nvSpPr>
          <p:cNvPr id="5" name="Draw dot"/>
          <p:cNvSpPr/>
          <p:nvPr/>
        </p:nvSpPr>
        <p:spPr>
          <a:xfrm>
            <a:off x="1097280" y="1828800"/>
            <a:ext cx="201168" cy="201168"/>
          </a:xfrm>
          <a:prstGeom prst="ellipse">
            <a:avLst/>
          </a:prstGeom>
          <a:solidFill>
            <a:srgbClr val="9A9AA0"/>
          </a:solidFill>
          <a:ln/>
        </p:spPr>
      </p:sp>
      <p:sp>
        <p:nvSpPr>
          <p:cNvPr id="6" name="Draw dot"/>
          <p:cNvSpPr/>
          <p:nvPr/>
        </p:nvSpPr>
        <p:spPr>
          <a:xfrm>
            <a:off x="1463040" y="1828800"/>
            <a:ext cx="201168" cy="201168"/>
          </a:xfrm>
          <a:prstGeom prst="ellipse">
            <a:avLst/>
          </a:prstGeom>
          <a:solidFill>
            <a:srgbClr val="9A9AA0"/>
          </a:solidFill>
          <a:ln/>
        </p:spPr>
      </p:sp>
      <p:sp>
        <p:nvSpPr>
          <p:cNvPr id="7" name="Draw dot"/>
          <p:cNvSpPr/>
          <p:nvPr/>
        </p:nvSpPr>
        <p:spPr>
          <a:xfrm>
            <a:off x="1828800" y="1828800"/>
            <a:ext cx="201168" cy="201168"/>
          </a:xfrm>
          <a:prstGeom prst="ellipse">
            <a:avLst/>
          </a:prstGeom>
          <a:solidFill>
            <a:srgbClr val="9A9AA0"/>
          </a:solidFill>
          <a:ln/>
        </p:spPr>
      </p:sp>
      <p:sp>
        <p:nvSpPr>
          <p:cNvPr id="8" name="Draw dot"/>
          <p:cNvSpPr/>
          <p:nvPr/>
        </p:nvSpPr>
        <p:spPr>
          <a:xfrm>
            <a:off x="2194560" y="1828800"/>
            <a:ext cx="201168" cy="201168"/>
          </a:xfrm>
          <a:prstGeom prst="ellipse">
            <a:avLst/>
          </a:prstGeom>
          <a:solidFill>
            <a:srgbClr val="9A9AA0"/>
          </a:solidFill>
          <a:ln/>
        </p:spPr>
      </p:sp>
      <p:sp>
        <p:nvSpPr>
          <p:cNvPr id="9" name="Draw dot"/>
          <p:cNvSpPr/>
          <p:nvPr/>
        </p:nvSpPr>
        <p:spPr>
          <a:xfrm>
            <a:off x="5852160" y="1828800"/>
            <a:ext cx="201168" cy="201168"/>
          </a:xfrm>
          <a:prstGeom prst="ellipse">
            <a:avLst/>
          </a:prstGeom>
          <a:solidFill>
            <a:srgbClr val="9A9AA0"/>
          </a:solidFill>
          <a:ln/>
        </p:spPr>
      </p:sp>
      <p:sp>
        <p:nvSpPr>
          <p:cNvPr id="10" name="Draw dot"/>
          <p:cNvSpPr/>
          <p:nvPr/>
        </p:nvSpPr>
        <p:spPr>
          <a:xfrm>
            <a:off x="6217920" y="1828800"/>
            <a:ext cx="201168" cy="201168"/>
          </a:xfrm>
          <a:prstGeom prst="ellipse">
            <a:avLst/>
          </a:prstGeom>
          <a:solidFill>
            <a:srgbClr val="9A9AA0"/>
          </a:solidFill>
          <a:ln/>
        </p:spPr>
      </p:sp>
      <p:sp>
        <p:nvSpPr>
          <p:cNvPr id="11" name="Draw dot"/>
          <p:cNvSpPr/>
          <p:nvPr/>
        </p:nvSpPr>
        <p:spPr>
          <a:xfrm>
            <a:off x="6583680" y="1828800"/>
            <a:ext cx="201168" cy="201168"/>
          </a:xfrm>
          <a:prstGeom prst="ellipse">
            <a:avLst/>
          </a:prstGeom>
          <a:solidFill>
            <a:srgbClr val="9A9AA0"/>
          </a:solidFill>
          <a:ln/>
        </p:spPr>
      </p:sp>
      <p:sp>
        <p:nvSpPr>
          <p:cNvPr id="12" name="Draw dot"/>
          <p:cNvSpPr/>
          <p:nvPr/>
        </p:nvSpPr>
        <p:spPr>
          <a:xfrm>
            <a:off x="6949440" y="1828800"/>
            <a:ext cx="201168" cy="201168"/>
          </a:xfrm>
          <a:prstGeom prst="ellipse">
            <a:avLst/>
          </a:prstGeom>
          <a:solidFill>
            <a:srgbClr val="9A9AA0"/>
          </a:solidFill>
          <a:ln/>
        </p:spPr>
      </p:sp>
      <p:sp>
        <p:nvSpPr>
          <p:cNvPr id="13" name="Gap line"/>
          <p:cNvSpPr/>
          <p:nvPr/>
        </p:nvSpPr>
        <p:spPr>
          <a:xfrm>
            <a:off x="2468880" y="1929384"/>
            <a:ext cx="3200400" cy="0"/>
          </a:xfrm>
          <a:prstGeom prst="line">
            <a:avLst/>
          </a:prstGeom>
          <a:noFill/>
          <a:ln w="19050">
            <a:solidFill>
              <a:srgbClr val="9A9AA0"/>
            </a:solidFill>
            <a:prstDash val="dash"/>
          </a:ln>
        </p:spPr>
      </p:sp>
      <p:sp>
        <p:nvSpPr>
          <p:cNvPr id="14" name="Gap label"/>
          <p:cNvSpPr txBox="1"/>
          <p:nvPr/>
        </p:nvSpPr>
        <p:spPr>
          <a:xfrm>
            <a:off x="2468880" y="1572768"/>
            <a:ext cx="3200400" cy="274320"/>
          </a:xfrm>
          <a:prstGeom prst="rect">
            <a:avLst/>
          </a:prstGeom>
          <a:noFill/>
          <a:ln/>
        </p:spPr>
        <p:txBody>
          <a:bodyPr wrap="square" lIns="0" tIns="0" rIns="0" bIns="0" rtlCol="0" anchor="t"/>
          <a:lstStyle/>
          <a:p>
            <a:pPr marL="0" indent="0" algn="ctr">
              <a:buNone/>
            </a:pPr>
            <a:r>
              <a:rPr lang="en-US" sz="1200" dirty="0">
                <a:solidFill>
                  <a:schemeClr val="tx2"/>
                </a:solidFill>
              </a:rPr>
              <a:t>months apart, treated as one time step</a:t>
            </a:r>
            <a:endParaRPr lang="en-US" sz="1200" dirty="0"/>
          </a:p>
        </p:txBody>
      </p:sp>
      <p:sp>
        <p:nvSpPr>
          <p:cNvPr id="15" name="Right label"/>
          <p:cNvSpPr txBox="1"/>
          <p:nvPr/>
        </p:nvSpPr>
        <p:spPr>
          <a:xfrm>
            <a:off x="548640" y="2788920"/>
            <a:ext cx="4572000" cy="320040"/>
          </a:xfrm>
          <a:prstGeom prst="rect">
            <a:avLst/>
          </a:prstGeom>
          <a:noFill/>
          <a:ln/>
        </p:spPr>
        <p:txBody>
          <a:bodyPr wrap="square" lIns="0" tIns="0" rIns="0" bIns="0" rtlCol="0" anchor="t"/>
          <a:lstStyle/>
          <a:p>
            <a:pPr marL="0" indent="0" algn="l">
              <a:buNone/>
            </a:pPr>
            <a:r>
              <a:rPr lang="en-US" sz="1600" b="1" dirty="0">
                <a:solidFill>
                  <a:schemeClr val="accent1"/>
                </a:solidFill>
              </a:rPr>
              <a:t>Grouped by admission (used)</a:t>
            </a:r>
            <a:endParaRPr lang="en-US" sz="1600" dirty="0"/>
          </a:p>
        </p:txBody>
      </p:sp>
      <p:sp>
        <p:nvSpPr>
          <p:cNvPr id="16" name="Admission box 1"/>
          <p:cNvSpPr/>
          <p:nvPr/>
        </p:nvSpPr>
        <p:spPr>
          <a:xfrm>
            <a:off x="594360" y="3337560"/>
            <a:ext cx="1920240" cy="640080"/>
          </a:xfrm>
          <a:prstGeom prst="roundRect">
            <a:avLst>
              <a:gd name="adj" fmla="val 14286"/>
            </a:avLst>
          </a:prstGeom>
          <a:ln w="15875">
            <a:solidFill>
              <a:srgbClr val="6CB2EB"/>
            </a:solidFill>
            <a:prstDash val="solid"/>
          </a:ln>
        </p:spPr>
      </p:sp>
      <p:sp>
        <p:nvSpPr>
          <p:cNvPr id="17" name="Admission box 2"/>
          <p:cNvSpPr/>
          <p:nvPr/>
        </p:nvSpPr>
        <p:spPr>
          <a:xfrm>
            <a:off x="5715000" y="3337560"/>
            <a:ext cx="1920240" cy="640080"/>
          </a:xfrm>
          <a:prstGeom prst="roundRect">
            <a:avLst>
              <a:gd name="adj" fmla="val 14286"/>
            </a:avLst>
          </a:prstGeom>
          <a:ln w="15875">
            <a:solidFill>
              <a:srgbClr val="6CB2EB"/>
            </a:solidFill>
            <a:prstDash val="solid"/>
          </a:ln>
        </p:spPr>
      </p:sp>
      <p:sp>
        <p:nvSpPr>
          <p:cNvPr id="18" name="Draw dot"/>
          <p:cNvSpPr/>
          <p:nvPr/>
        </p:nvSpPr>
        <p:spPr>
          <a:xfrm>
            <a:off x="731520" y="3557016"/>
            <a:ext cx="201168" cy="201168"/>
          </a:xfrm>
          <a:prstGeom prst="ellipse">
            <a:avLst/>
          </a:prstGeom>
          <a:solidFill>
            <a:srgbClr val="6CB2EB"/>
          </a:solidFill>
          <a:ln/>
        </p:spPr>
      </p:sp>
      <p:sp>
        <p:nvSpPr>
          <p:cNvPr id="19" name="Draw dot"/>
          <p:cNvSpPr/>
          <p:nvPr/>
        </p:nvSpPr>
        <p:spPr>
          <a:xfrm>
            <a:off x="1097280" y="3557016"/>
            <a:ext cx="201168" cy="201168"/>
          </a:xfrm>
          <a:prstGeom prst="ellipse">
            <a:avLst/>
          </a:prstGeom>
          <a:solidFill>
            <a:srgbClr val="6CB2EB"/>
          </a:solidFill>
          <a:ln/>
        </p:spPr>
      </p:sp>
      <p:sp>
        <p:nvSpPr>
          <p:cNvPr id="20" name="Draw dot"/>
          <p:cNvSpPr/>
          <p:nvPr/>
        </p:nvSpPr>
        <p:spPr>
          <a:xfrm>
            <a:off x="1463040" y="3557016"/>
            <a:ext cx="201168" cy="201168"/>
          </a:xfrm>
          <a:prstGeom prst="ellipse">
            <a:avLst/>
          </a:prstGeom>
          <a:solidFill>
            <a:srgbClr val="6CB2EB"/>
          </a:solidFill>
          <a:ln/>
        </p:spPr>
      </p:sp>
      <p:sp>
        <p:nvSpPr>
          <p:cNvPr id="21" name="Draw dot"/>
          <p:cNvSpPr/>
          <p:nvPr/>
        </p:nvSpPr>
        <p:spPr>
          <a:xfrm>
            <a:off x="1828800" y="3557016"/>
            <a:ext cx="201168" cy="201168"/>
          </a:xfrm>
          <a:prstGeom prst="ellipse">
            <a:avLst/>
          </a:prstGeom>
          <a:solidFill>
            <a:srgbClr val="6CB2EB"/>
          </a:solidFill>
          <a:ln/>
        </p:spPr>
      </p:sp>
      <p:sp>
        <p:nvSpPr>
          <p:cNvPr id="22" name="Draw dot"/>
          <p:cNvSpPr/>
          <p:nvPr/>
        </p:nvSpPr>
        <p:spPr>
          <a:xfrm>
            <a:off x="2194560" y="3557016"/>
            <a:ext cx="201168" cy="201168"/>
          </a:xfrm>
          <a:prstGeom prst="ellipse">
            <a:avLst/>
          </a:prstGeom>
          <a:solidFill>
            <a:srgbClr val="6CB2EB"/>
          </a:solidFill>
          <a:ln/>
        </p:spPr>
      </p:sp>
      <p:sp>
        <p:nvSpPr>
          <p:cNvPr id="23" name="Draw dot"/>
          <p:cNvSpPr/>
          <p:nvPr/>
        </p:nvSpPr>
        <p:spPr>
          <a:xfrm>
            <a:off x="5852160" y="3557016"/>
            <a:ext cx="201168" cy="201168"/>
          </a:xfrm>
          <a:prstGeom prst="ellipse">
            <a:avLst/>
          </a:prstGeom>
          <a:solidFill>
            <a:srgbClr val="6CB2EB"/>
          </a:solidFill>
          <a:ln/>
        </p:spPr>
      </p:sp>
      <p:sp>
        <p:nvSpPr>
          <p:cNvPr id="24" name="Draw dot"/>
          <p:cNvSpPr/>
          <p:nvPr/>
        </p:nvSpPr>
        <p:spPr>
          <a:xfrm>
            <a:off x="6217920" y="3557016"/>
            <a:ext cx="201168" cy="201168"/>
          </a:xfrm>
          <a:prstGeom prst="ellipse">
            <a:avLst/>
          </a:prstGeom>
          <a:solidFill>
            <a:srgbClr val="6CB2EB"/>
          </a:solidFill>
          <a:ln/>
        </p:spPr>
      </p:sp>
      <p:sp>
        <p:nvSpPr>
          <p:cNvPr id="25" name="Draw dot"/>
          <p:cNvSpPr/>
          <p:nvPr/>
        </p:nvSpPr>
        <p:spPr>
          <a:xfrm>
            <a:off x="6583680" y="3557016"/>
            <a:ext cx="201168" cy="201168"/>
          </a:xfrm>
          <a:prstGeom prst="ellipse">
            <a:avLst/>
          </a:prstGeom>
          <a:solidFill>
            <a:srgbClr val="6CB2EB"/>
          </a:solidFill>
          <a:ln/>
        </p:spPr>
      </p:sp>
      <p:sp>
        <p:nvSpPr>
          <p:cNvPr id="26" name="Draw dot"/>
          <p:cNvSpPr/>
          <p:nvPr/>
        </p:nvSpPr>
        <p:spPr>
          <a:xfrm>
            <a:off x="6949440" y="3557016"/>
            <a:ext cx="201168" cy="201168"/>
          </a:xfrm>
          <a:prstGeom prst="ellipse">
            <a:avLst/>
          </a:prstGeom>
          <a:solidFill>
            <a:srgbClr val="6CB2EB"/>
          </a:solidFill>
          <a:ln/>
        </p:spPr>
      </p:sp>
      <p:sp>
        <p:nvSpPr>
          <p:cNvPr id="27" name="Sequence label"/>
          <p:cNvSpPr txBox="1"/>
          <p:nvPr/>
        </p:nvSpPr>
        <p:spPr>
          <a:xfrm>
            <a:off x="2560320" y="3566160"/>
            <a:ext cx="3017520" cy="274320"/>
          </a:xfrm>
          <a:prstGeom prst="rect">
            <a:avLst/>
          </a:prstGeom>
          <a:noFill/>
          <a:ln/>
        </p:spPr>
        <p:txBody>
          <a:bodyPr wrap="square" lIns="0" tIns="0" rIns="0" bIns="0" rtlCol="0" anchor="t"/>
          <a:lstStyle/>
          <a:p>
            <a:pPr marL="0" indent="0" algn="ctr">
              <a:buNone/>
            </a:pPr>
            <a:r>
              <a:rPr lang="en-US" sz="1200" dirty="0">
                <a:solidFill>
                  <a:schemeClr val="tx2"/>
                </a:solidFill>
              </a:rPr>
              <a:t>each admission is its own sequence</a:t>
            </a:r>
            <a:endParaRPr lang="en-US" sz="1200" dirty="0"/>
          </a:p>
        </p:txBody>
      </p:sp>
      <p:sp>
        <p:nvSpPr>
          <p:cNvPr id="28" name="Key caption"/>
          <p:cNvSpPr txBox="1"/>
          <p:nvPr/>
        </p:nvSpPr>
        <p:spPr>
          <a:xfrm>
            <a:off x="548640" y="4343400"/>
            <a:ext cx="8046720" cy="274320"/>
          </a:xfrm>
          <a:prstGeom prst="rect">
            <a:avLst/>
          </a:prstGeom>
          <a:noFill/>
          <a:ln/>
        </p:spPr>
        <p:txBody>
          <a:bodyPr wrap="square" lIns="0" tIns="0" rIns="0" bIns="0" rtlCol="0" anchor="t"/>
          <a:lstStyle/>
          <a:p>
            <a:pPr marL="0" indent="0" algn="l">
              <a:buNone/>
            </a:pPr>
            <a:r>
              <a:rPr lang="en-US" sz="1300" dirty="0">
                <a:solidFill>
                  <a:schemeClr val="tx2"/>
                </a:solidFill>
              </a:rPr>
              <a:t>Sequence key: patient ID + admission ID</a:t>
            </a:r>
            <a:endParaRPr lang="en-US" sz="1300" dirty="0"/>
          </a:p>
        </p:txBody>
      </p:sp>
      <p:sp>
        <p:nvSpPr>
          <p:cNvPr id="29"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Split by patient, not by row</a:t>
            </a:r>
            <a:endParaRPr lang="en-US" sz="3600" dirty="0"/>
          </a:p>
        </p:txBody>
      </p:sp>
      <p:sp>
        <p:nvSpPr>
          <p:cNvPr id="3" name="Split 1"/>
          <p:cNvSpPr/>
          <p:nvPr/>
        </p:nvSpPr>
        <p:spPr>
          <a:xfrm>
            <a:off x="548640" y="1371600"/>
            <a:ext cx="5632704" cy="548640"/>
          </a:xfrm>
          <a:prstGeom prst="rect">
            <a:avLst/>
          </a:prstGeom>
          <a:solidFill>
            <a:srgbClr val="4A4A4F"/>
          </a:solidFill>
          <a:ln w="25400">
            <a:solidFill>
              <a:srgbClr val="0B0B0C"/>
            </a:solidFill>
            <a:prstDash val="solid"/>
          </a:ln>
        </p:spPr>
      </p:sp>
      <p:sp>
        <p:nvSpPr>
          <p:cNvPr id="4" name="Split label 1"/>
          <p:cNvSpPr txBox="1"/>
          <p:nvPr/>
        </p:nvSpPr>
        <p:spPr>
          <a:xfrm>
            <a:off x="548640" y="1371600"/>
            <a:ext cx="5632704" cy="548640"/>
          </a:xfrm>
          <a:prstGeom prst="rect">
            <a:avLst/>
          </a:prstGeom>
          <a:noFill/>
          <a:ln/>
        </p:spPr>
        <p:txBody>
          <a:bodyPr wrap="square" lIns="0" tIns="0" rIns="0" bIns="0" rtlCol="0" anchor="ctr"/>
          <a:lstStyle/>
          <a:p>
            <a:pPr marL="0" indent="0" algn="ctr">
              <a:buNone/>
            </a:pPr>
            <a:r>
              <a:rPr lang="en-US" sz="1600" b="1" dirty="0">
                <a:solidFill>
                  <a:schemeClr val="tx1"/>
                </a:solidFill>
              </a:rPr>
              <a:t>Train · 70% of patients</a:t>
            </a:r>
            <a:endParaRPr lang="en-US" sz="1600" dirty="0"/>
          </a:p>
        </p:txBody>
      </p:sp>
      <p:sp>
        <p:nvSpPr>
          <p:cNvPr id="5" name="Split rows 1"/>
          <p:cNvSpPr txBox="1"/>
          <p:nvPr/>
        </p:nvSpPr>
        <p:spPr>
          <a:xfrm>
            <a:off x="548640" y="1984248"/>
            <a:ext cx="5632704" cy="274320"/>
          </a:xfrm>
          <a:prstGeom prst="rect">
            <a:avLst/>
          </a:prstGeom>
          <a:noFill/>
          <a:ln/>
        </p:spPr>
        <p:txBody>
          <a:bodyPr wrap="square" lIns="0" tIns="0" rIns="0" bIns="0" rtlCol="0" anchor="t"/>
          <a:lstStyle/>
          <a:p>
            <a:pPr marL="0" indent="0" algn="ctr">
              <a:buNone/>
            </a:pPr>
            <a:r>
              <a:rPr lang="en-US" sz="1200" dirty="0">
                <a:solidFill>
                  <a:schemeClr val="tx2"/>
                </a:solidFill>
              </a:rPr>
              <a:t>1,334,219 rows</a:t>
            </a:r>
            <a:endParaRPr lang="en-US" sz="1200" dirty="0"/>
          </a:p>
        </p:txBody>
      </p:sp>
      <p:sp>
        <p:nvSpPr>
          <p:cNvPr id="6" name="Split 2"/>
          <p:cNvSpPr/>
          <p:nvPr/>
        </p:nvSpPr>
        <p:spPr>
          <a:xfrm>
            <a:off x="6181344" y="1371600"/>
            <a:ext cx="1207008" cy="548640"/>
          </a:xfrm>
          <a:prstGeom prst="rect">
            <a:avLst/>
          </a:prstGeom>
          <a:solidFill>
            <a:srgbClr val="8A8A8F"/>
          </a:solidFill>
          <a:ln w="25400">
            <a:solidFill>
              <a:srgbClr val="0B0B0C"/>
            </a:solidFill>
            <a:prstDash val="solid"/>
          </a:ln>
        </p:spPr>
      </p:sp>
      <p:sp>
        <p:nvSpPr>
          <p:cNvPr id="7" name="Split label 2"/>
          <p:cNvSpPr txBox="1"/>
          <p:nvPr/>
        </p:nvSpPr>
        <p:spPr>
          <a:xfrm>
            <a:off x="6181344" y="1371600"/>
            <a:ext cx="1207008" cy="548640"/>
          </a:xfrm>
          <a:prstGeom prst="rect">
            <a:avLst/>
          </a:prstGeom>
          <a:noFill/>
          <a:ln/>
        </p:spPr>
        <p:txBody>
          <a:bodyPr wrap="square" lIns="0" tIns="0" rIns="0" bIns="0" rtlCol="0" anchor="ctr"/>
          <a:lstStyle/>
          <a:p>
            <a:pPr marL="0" indent="0" algn="ctr">
              <a:buNone/>
            </a:pPr>
            <a:r>
              <a:rPr lang="en-US" sz="1300" b="1" dirty="0">
                <a:solidFill>
                  <a:schemeClr val="bg1"/>
                </a:solidFill>
              </a:rPr>
              <a:t>Val 15%</a:t>
            </a:r>
            <a:endParaRPr lang="en-US" sz="1300" dirty="0"/>
          </a:p>
        </p:txBody>
      </p:sp>
      <p:sp>
        <p:nvSpPr>
          <p:cNvPr id="8" name="Split rows 2"/>
          <p:cNvSpPr txBox="1"/>
          <p:nvPr/>
        </p:nvSpPr>
        <p:spPr>
          <a:xfrm>
            <a:off x="6181344" y="1984248"/>
            <a:ext cx="1207008" cy="274320"/>
          </a:xfrm>
          <a:prstGeom prst="rect">
            <a:avLst/>
          </a:prstGeom>
          <a:noFill/>
          <a:ln/>
        </p:spPr>
        <p:txBody>
          <a:bodyPr wrap="square" lIns="0" tIns="0" rIns="0" bIns="0" rtlCol="0" anchor="t"/>
          <a:lstStyle/>
          <a:p>
            <a:pPr marL="0" indent="0" algn="ctr">
              <a:buNone/>
            </a:pPr>
            <a:r>
              <a:rPr lang="en-US" sz="1200" dirty="0">
                <a:solidFill>
                  <a:schemeClr val="tx2"/>
                </a:solidFill>
              </a:rPr>
              <a:t>287,400</a:t>
            </a:r>
            <a:endParaRPr lang="en-US" sz="1200" dirty="0"/>
          </a:p>
        </p:txBody>
      </p:sp>
      <p:sp>
        <p:nvSpPr>
          <p:cNvPr id="9" name="Split 3"/>
          <p:cNvSpPr/>
          <p:nvPr/>
        </p:nvSpPr>
        <p:spPr>
          <a:xfrm>
            <a:off x="7388352" y="1371600"/>
            <a:ext cx="1207008" cy="548640"/>
          </a:xfrm>
          <a:prstGeom prst="rect">
            <a:avLst/>
          </a:prstGeom>
          <a:solidFill>
            <a:srgbClr val="6CB2EB"/>
          </a:solidFill>
          <a:ln w="25400">
            <a:solidFill>
              <a:srgbClr val="0B0B0C"/>
            </a:solidFill>
            <a:prstDash val="solid"/>
          </a:ln>
        </p:spPr>
      </p:sp>
      <p:sp>
        <p:nvSpPr>
          <p:cNvPr id="10" name="Split label 3"/>
          <p:cNvSpPr txBox="1"/>
          <p:nvPr/>
        </p:nvSpPr>
        <p:spPr>
          <a:xfrm>
            <a:off x="7388352" y="1371600"/>
            <a:ext cx="1207008" cy="548640"/>
          </a:xfrm>
          <a:prstGeom prst="rect">
            <a:avLst/>
          </a:prstGeom>
          <a:noFill/>
          <a:ln/>
        </p:spPr>
        <p:txBody>
          <a:bodyPr wrap="square" lIns="0" tIns="0" rIns="0" bIns="0" rtlCol="0" anchor="ctr"/>
          <a:lstStyle/>
          <a:p>
            <a:pPr marL="0" indent="0" algn="ctr">
              <a:buNone/>
            </a:pPr>
            <a:r>
              <a:rPr lang="en-US" sz="1300" b="1" dirty="0">
                <a:solidFill>
                  <a:schemeClr val="bg1"/>
                </a:solidFill>
              </a:rPr>
              <a:t>Test 15%</a:t>
            </a:r>
            <a:endParaRPr lang="en-US" sz="1300" dirty="0"/>
          </a:p>
        </p:txBody>
      </p:sp>
      <p:sp>
        <p:nvSpPr>
          <p:cNvPr id="11" name="Split rows 3"/>
          <p:cNvSpPr txBox="1"/>
          <p:nvPr/>
        </p:nvSpPr>
        <p:spPr>
          <a:xfrm>
            <a:off x="7388352" y="1984248"/>
            <a:ext cx="1207008" cy="274320"/>
          </a:xfrm>
          <a:prstGeom prst="rect">
            <a:avLst/>
          </a:prstGeom>
          <a:noFill/>
          <a:ln/>
        </p:spPr>
        <p:txBody>
          <a:bodyPr wrap="square" lIns="0" tIns="0" rIns="0" bIns="0" rtlCol="0" anchor="t"/>
          <a:lstStyle/>
          <a:p>
            <a:pPr marL="0" indent="0" algn="ctr">
              <a:buNone/>
            </a:pPr>
            <a:r>
              <a:rPr lang="en-US" sz="1200" dirty="0">
                <a:solidFill>
                  <a:schemeClr val="tx2"/>
                </a:solidFill>
              </a:rPr>
              <a:t>291,451</a:t>
            </a:r>
            <a:endParaRPr lang="en-US" sz="1200" dirty="0"/>
          </a:p>
        </p:txBody>
      </p:sp>
      <p:sp>
        <p:nvSpPr>
          <p:cNvPr id="12" name="Split points"/>
          <p:cNvSpPr txBox="1"/>
          <p:nvPr/>
        </p:nvSpPr>
        <p:spPr>
          <a:xfrm>
            <a:off x="548640" y="2606040"/>
            <a:ext cx="8046720" cy="20116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chemeClr val="tx1"/>
                </a:solidFill>
              </a:rPr>
              <a:t>Consecutive draws from one admission are highly correlated</a:t>
            </a:r>
            <a:endParaRPr lang="en-US" sz="1800" dirty="0"/>
          </a:p>
          <a:p>
            <a:pPr marL="342900" indent="-342900" algn="l">
              <a:spcAft>
                <a:spcPts val="1000"/>
              </a:spcAft>
              <a:buSzPct val="100000"/>
              <a:buChar char="•"/>
            </a:pPr>
            <a:r>
              <a:rPr lang="en-US" sz="1800" dirty="0">
                <a:solidFill>
                  <a:schemeClr val="tx1"/>
                </a:solidFill>
              </a:rPr>
              <a:t>A row-level split would put a patient's draws on both sides and inflate results</a:t>
            </a:r>
            <a:endParaRPr lang="en-US" sz="1800" dirty="0"/>
          </a:p>
          <a:p>
            <a:pPr marL="342900" indent="-342900" algn="l">
              <a:spcAft>
                <a:spcPts val="1000"/>
              </a:spcAft>
              <a:buSzPct val="100000"/>
              <a:buChar char="•"/>
            </a:pPr>
            <a:r>
              <a:rPr lang="en-US" sz="1800" dirty="0">
                <a:solidFill>
                  <a:schemeClr val="tx1"/>
                </a:solidFill>
              </a:rPr>
              <a:t>Patient-level split: no patient appears in more than one split (checked with assertions)</a:t>
            </a:r>
            <a:endParaRPr lang="en-US" sz="1800" dirty="0"/>
          </a:p>
          <a:p>
            <a:pPr marL="342900" indent="-342900" algn="l">
              <a:spcAft>
                <a:spcPts val="1000"/>
              </a:spcAft>
              <a:buSzPct val="100000"/>
              <a:buChar char="•"/>
            </a:pPr>
            <a:r>
              <a:rPr lang="en-US" sz="1800" dirty="0">
                <a:solidFill>
                  <a:schemeClr val="tx1"/>
                </a:solidFill>
              </a:rPr>
              <a:t>The test split stays untouched until the final evaluation</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Rare events need the right metrics</a:t>
            </a:r>
            <a:endParaRPr lang="en-US" sz="3600" dirty="0"/>
          </a:p>
        </p:txBody>
      </p:sp>
      <p:sp>
        <p:nvSpPr>
          <p:cNvPr id="3" name="Accuracy trap"/>
          <p:cNvSpPr txBox="1"/>
          <p:nvPr/>
        </p:nvSpPr>
        <p:spPr>
          <a:xfrm>
            <a:off x="548640" y="1371600"/>
            <a:ext cx="3017520" cy="1645920"/>
          </a:xfrm>
          <a:prstGeom prst="rect">
            <a:avLst/>
          </a:prstGeom>
          <a:noFill/>
          <a:ln/>
        </p:spPr>
        <p:txBody>
          <a:bodyPr wrap="square" lIns="0" tIns="0" rIns="0" bIns="0" rtlCol="0" anchor="t"/>
          <a:lstStyle/>
          <a:p>
            <a:pPr marL="0" indent="0" algn="l">
              <a:buNone/>
            </a:pPr>
            <a:r>
              <a:rPr lang="en-US" sz="2400" b="1" dirty="0">
                <a:solidFill>
                  <a:schemeClr val="tx1"/>
                </a:solidFill>
              </a:rPr>
              <a:t>Predict "never critical":</a:t>
            </a:r>
            <a:endParaRPr lang="en-US" sz="2400" dirty="0"/>
          </a:p>
          <a:p>
            <a:pPr marL="0" indent="0" algn="l">
              <a:buNone/>
            </a:pPr>
            <a:r>
              <a:rPr lang="en-US" sz="2400" b="1" dirty="0">
                <a:solidFill>
                  <a:schemeClr val="tx1"/>
                </a:solidFill>
              </a:rPr>
              <a:t>99.4% accurate,</a:t>
            </a:r>
            <a:endParaRPr lang="en-US" sz="2400" dirty="0"/>
          </a:p>
          <a:p>
            <a:pPr marL="0" indent="0" algn="l">
              <a:buNone/>
            </a:pPr>
            <a:r>
              <a:rPr lang="en-US" sz="2400" b="1" dirty="0">
                <a:solidFill>
                  <a:schemeClr val="tx1"/>
                </a:solidFill>
              </a:rPr>
              <a:t>0% useful.</a:t>
            </a:r>
            <a:endParaRPr lang="en-US" sz="2400" dirty="0"/>
          </a:p>
        </p:txBody>
      </p:sp>
      <p:sp>
        <p:nvSpPr>
          <p:cNvPr id="4" name="Imbalance handling"/>
          <p:cNvSpPr txBox="1"/>
          <p:nvPr/>
        </p:nvSpPr>
        <p:spPr>
          <a:xfrm>
            <a:off x="548640" y="3200400"/>
            <a:ext cx="3017520" cy="1188720"/>
          </a:xfrm>
          <a:prstGeom prst="rect">
            <a:avLst/>
          </a:prstGeom>
          <a:noFill/>
          <a:ln/>
        </p:spPr>
        <p:txBody>
          <a:bodyPr wrap="square" lIns="0" tIns="0" rIns="0" bIns="0" rtlCol="0" anchor="t"/>
          <a:lstStyle/>
          <a:p>
            <a:pPr marL="0" indent="0" algn="l">
              <a:buNone/>
            </a:pPr>
            <a:r>
              <a:rPr lang="en-US" sz="1400" dirty="0">
                <a:solidFill>
                  <a:schemeClr val="tx2"/>
                </a:solidFill>
              </a:rPr>
              <a:t>Handling the 0.6% positive rate:</a:t>
            </a:r>
            <a:endParaRPr lang="en-US" sz="1400" dirty="0"/>
          </a:p>
          <a:p>
            <a:pPr marL="0" indent="0" algn="l">
              <a:buNone/>
            </a:pPr>
            <a:r>
              <a:rPr lang="en-US" sz="1400" dirty="0">
                <a:solidFill>
                  <a:schemeClr val="tx2"/>
                </a:solidFill>
              </a:rPr>
              <a:t>baseline class_weight="balanced"</a:t>
            </a:r>
            <a:endParaRPr lang="en-US" sz="1400" dirty="0"/>
          </a:p>
          <a:p>
            <a:pPr marL="0" indent="0" algn="l">
              <a:buNone/>
            </a:pPr>
            <a:r>
              <a:rPr lang="en-US" sz="1400" dirty="0">
                <a:solidFill>
                  <a:schemeClr val="tx2"/>
                </a:solidFill>
              </a:rPr>
              <a:t>LSTM pos_weight ≈ 168</a:t>
            </a:r>
            <a:endParaRPr lang="en-US" sz="1400" dirty="0"/>
          </a:p>
        </p:txBody>
      </p:sp>
      <p:graphicFrame>
        <p:nvGraphicFramePr>
          <p:cNvPr id="9" name="Metric glossary"/>
          <p:cNvGraphicFramePr>
            <a:graphicFrameLocks noGrp="1"/>
          </p:cNvGraphicFramePr>
          <p:nvPr>
            <p:extLst>
              <p:ext uri="{D42A27DB-BD31-4B8C-83A1-F6EECF244321}">
                <p14:modId xmlns:p14="http://schemas.microsoft.com/office/powerpoint/2010/main" val="1579011935"/>
              </p:ext>
            </p:extLst>
          </p:nvPr>
        </p:nvGraphicFramePr>
        <p:xfrm>
          <a:off x="3931920" y="1371600"/>
          <a:ext cx="4663440" cy="2926080"/>
        </p:xfrm>
        <a:graphic>
          <a:graphicData uri="http://schemas.openxmlformats.org/drawingml/2006/table">
            <a:tbl>
              <a:tblPr/>
              <a:tblGrid>
                <a:gridCol w="12801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731520">
                <a:tc>
                  <a:txBody>
                    <a:bodyPr/>
                    <a:lstStyle/>
                    <a:p>
                      <a:pPr marL="0" indent="0">
                        <a:buNone/>
                      </a:pPr>
                      <a:r>
                        <a:rPr lang="en-US" sz="1400" b="1" dirty="0">
                          <a:solidFill>
                            <a:schemeClr val="accent1"/>
                          </a:solidFill>
                        </a:rPr>
                        <a:t>AUPRC</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Precision vs. recall. Primary metric. A no-skill model scores ≈ 0.006.</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rPr>
                        <a:t>AUROC</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How well scores rank critical above non-critical draws.</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rPr>
                        <a:t>Sensitivity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Share of critical draws caught.</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rPr>
                        <a:t>Specificity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buNone/>
                      </a:pPr>
                      <a:r>
                        <a:rPr lang="en-US" sz="1400" dirty="0">
                          <a:solidFill>
                            <a:schemeClr val="tx1"/>
                          </a:solidFill>
                        </a:rPr>
                        <a:t>Share of non-critical draws left alone.</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Baseline: logistic regression</a:t>
            </a:r>
            <a:endParaRPr lang="en-US" sz="3600" dirty="0"/>
          </a:p>
        </p:txBody>
      </p:sp>
      <p:sp>
        <p:nvSpPr>
          <p:cNvPr id="3" name="Baseline points"/>
          <p:cNvSpPr txBox="1"/>
          <p:nvPr/>
        </p:nvSpPr>
        <p:spPr>
          <a:xfrm>
            <a:off x="548640" y="1371600"/>
            <a:ext cx="3566160" cy="2926080"/>
          </a:xfrm>
          <a:prstGeom prst="rect">
            <a:avLst/>
          </a:prstGeom>
          <a:noFill/>
          <a:ln/>
        </p:spPr>
        <p:txBody>
          <a:bodyPr wrap="square" lIns="0" tIns="0" rIns="0" bIns="0" rtlCol="0" anchor="t"/>
          <a:lstStyle/>
          <a:p>
            <a:pPr marL="342900" indent="-342900" algn="l">
              <a:spcAft>
                <a:spcPts val="1200"/>
              </a:spcAft>
              <a:buSzPct val="100000"/>
              <a:buChar char="•"/>
            </a:pPr>
            <a:r>
              <a:rPr lang="en-US" sz="1600" dirty="0">
                <a:solidFill>
                  <a:schemeClr val="tx1"/>
                </a:solidFill>
              </a:rPr>
              <a:t>Three features, standardized</a:t>
            </a:r>
            <a:endParaRPr lang="en-US" sz="1600" dirty="0"/>
          </a:p>
          <a:p>
            <a:pPr marL="342900" indent="-342900" algn="l">
              <a:spcAft>
                <a:spcPts val="1200"/>
              </a:spcAft>
              <a:buSzPct val="100000"/>
              <a:buChar char="•"/>
            </a:pPr>
            <a:r>
              <a:rPr lang="en-US" sz="1600" dirty="0">
                <a:solidFill>
                  <a:schemeClr val="tx1"/>
                </a:solidFill>
              </a:rPr>
              <a:t>Scaler fit on the training split only</a:t>
            </a:r>
            <a:endParaRPr lang="en-US" sz="1600" dirty="0"/>
          </a:p>
          <a:p>
            <a:pPr marL="342900" indent="-342900" algn="l">
              <a:spcAft>
                <a:spcPts val="1200"/>
              </a:spcAft>
              <a:buSzPct val="100000"/>
              <a:buChar char="•"/>
            </a:pPr>
            <a:r>
              <a:rPr lang="en-US" sz="1600" dirty="0">
                <a:solidFill>
                  <a:schemeClr val="tx1"/>
                </a:solidFill>
              </a:rPr>
              <a:t>class_weight="balanced" for the rare class</a:t>
            </a:r>
            <a:endParaRPr lang="en-US" sz="1600" dirty="0"/>
          </a:p>
          <a:p>
            <a:pPr marL="342900" indent="-342900" algn="l">
              <a:spcAft>
                <a:spcPts val="1200"/>
              </a:spcAft>
              <a:buSzPct val="100000"/>
              <a:buChar char="•"/>
            </a:pPr>
            <a:r>
              <a:rPr lang="en-US" sz="1600" dirty="0">
                <a:solidFill>
                  <a:schemeClr val="tx1"/>
                </a:solidFill>
              </a:rPr>
              <a:t>Validation: AUPRC 0.121, AUROC 0.822</a:t>
            </a:r>
            <a:endParaRPr lang="en-US" sz="1600" dirty="0"/>
          </a:p>
        </p:txBody>
      </p:sp>
      <p:sp>
        <p:nvSpPr>
          <p:cNvPr id="4" name="Baseline code card"/>
          <p:cNvSpPr/>
          <p:nvPr/>
        </p:nvSpPr>
        <p:spPr>
          <a:xfrm>
            <a:off x="4389120" y="1371600"/>
            <a:ext cx="4206240" cy="2148840"/>
          </a:xfrm>
          <a:prstGeom prst="roundRect">
            <a:avLst>
              <a:gd name="adj" fmla="val 5106"/>
            </a:avLst>
          </a:prstGeom>
          <a:solidFill>
            <a:schemeClr val="bg2"/>
          </a:solidFill>
          <a:ln/>
        </p:spPr>
      </p:sp>
      <p:sp>
        <p:nvSpPr>
          <p:cNvPr id="5" name="Baseline code"/>
          <p:cNvSpPr txBox="1"/>
          <p:nvPr/>
        </p:nvSpPr>
        <p:spPr>
          <a:xfrm>
            <a:off x="4617720" y="1572768"/>
            <a:ext cx="3749040" cy="1746504"/>
          </a:xfrm>
          <a:prstGeom prst="rect">
            <a:avLst/>
          </a:prstGeom>
          <a:noFill/>
          <a:ln/>
        </p:spPr>
        <p:txBody>
          <a:bodyPr wrap="square" lIns="0" tIns="0" rIns="0" bIns="0" rtlCol="0" anchor="t"/>
          <a:lstStyle/>
          <a:p>
            <a:pPr marL="0" indent="0" algn="l">
              <a:buNone/>
            </a:pPr>
            <a:r>
              <a:rPr lang="en-US" sz="1200" dirty="0">
                <a:solidFill>
                  <a:schemeClr val="tx1"/>
                </a:solidFill>
                <a:latin typeface="Courier New" pitchFamily="34" charset="0"/>
                <a:ea typeface="Courier New" pitchFamily="34" charset="-122"/>
                <a:cs typeface="Courier New" pitchFamily="34" charset="-120"/>
              </a:rPr>
              <a:t>scaler = StandardScaler()</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X_tr = scaler.fit_transform(X_train)</a:t>
            </a:r>
            <a:endParaRPr lang="en-US" sz="1200" dirty="0"/>
          </a:p>
          <a:p>
            <a:pPr marL="0" indent="0" algn="l">
              <a:buNone/>
            </a:pP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model = LogisticRegression(</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class_weight="balanced",</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max_iter=1000)</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model.fit(X_tr, y_train)</a:t>
            </a:r>
            <a:endParaRPr lang="en-US" sz="1200" dirty="0"/>
          </a:p>
        </p:txBody>
      </p:sp>
      <p:sp>
        <p:nvSpPr>
          <p:cNvPr id="6" name="Code caption"/>
          <p:cNvSpPr txBox="1"/>
          <p:nvPr/>
        </p:nvSpPr>
        <p:spPr>
          <a:xfrm>
            <a:off x="4389120" y="3611880"/>
            <a:ext cx="4206240" cy="274320"/>
          </a:xfrm>
          <a:prstGeom prst="rect">
            <a:avLst/>
          </a:prstGeom>
          <a:noFill/>
          <a:ln/>
        </p:spPr>
        <p:txBody>
          <a:bodyPr wrap="square" lIns="0" tIns="0" rIns="0" bIns="0" rtlCol="0" anchor="t"/>
          <a:lstStyle/>
          <a:p>
            <a:pPr marL="0" indent="0" algn="l">
              <a:buNone/>
            </a:pPr>
            <a:r>
              <a:rPr lang="en-US" sz="1200" dirty="0">
                <a:solidFill>
                  <a:schemeClr val="tx2"/>
                </a:solidFill>
              </a:rPr>
              <a:t>Simplified from baseline_model.py</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Sequence model: LSTM</a:t>
            </a:r>
            <a:endParaRPr lang="en-US" sz="3600" dirty="0"/>
          </a:p>
        </p:txBody>
      </p:sp>
      <p:sp>
        <p:nvSpPr>
          <p:cNvPr id="3" name="Input card 1"/>
          <p:cNvSpPr/>
          <p:nvPr/>
        </p:nvSpPr>
        <p:spPr>
          <a:xfrm>
            <a:off x="914400" y="1280160"/>
            <a:ext cx="1280160" cy="457200"/>
          </a:xfrm>
          <a:prstGeom prst="roundRect">
            <a:avLst>
              <a:gd name="adj" fmla="val 24000"/>
            </a:avLst>
          </a:prstGeom>
          <a:solidFill>
            <a:schemeClr val="bg2"/>
          </a:solidFill>
          <a:ln/>
        </p:spPr>
      </p:sp>
      <p:sp>
        <p:nvSpPr>
          <p:cNvPr id="4" name="Input label 1"/>
          <p:cNvSpPr txBox="1"/>
          <p:nvPr/>
        </p:nvSpPr>
        <p:spPr>
          <a:xfrm>
            <a:off x="914400" y="1280160"/>
            <a:ext cx="1280160" cy="457200"/>
          </a:xfrm>
          <a:prstGeom prst="rect">
            <a:avLst/>
          </a:prstGeom>
          <a:noFill/>
          <a:ln/>
        </p:spPr>
        <p:txBody>
          <a:bodyPr wrap="square" lIns="0" tIns="0" rIns="0" bIns="0" rtlCol="0" anchor="ctr"/>
          <a:lstStyle/>
          <a:p>
            <a:pPr marL="0" indent="0" algn="ctr">
              <a:buNone/>
            </a:pPr>
            <a:r>
              <a:rPr lang="en-US" sz="1400" dirty="0">
                <a:solidFill>
                  <a:schemeClr val="tx1"/>
                </a:solidFill>
              </a:rPr>
              <a:t>draw 1</a:t>
            </a:r>
            <a:endParaRPr lang="en-US" sz="1400" dirty="0"/>
          </a:p>
        </p:txBody>
      </p:sp>
      <p:sp>
        <p:nvSpPr>
          <p:cNvPr id="5" name="LSTM cell 1"/>
          <p:cNvSpPr/>
          <p:nvPr/>
        </p:nvSpPr>
        <p:spPr>
          <a:xfrm>
            <a:off x="914400" y="2103120"/>
            <a:ext cx="1280160" cy="502920"/>
          </a:xfrm>
          <a:prstGeom prst="rect">
            <a:avLst/>
          </a:prstGeom>
          <a:solidFill>
            <a:schemeClr val="accent1"/>
          </a:solidFill>
          <a:ln/>
        </p:spPr>
      </p:sp>
      <p:sp>
        <p:nvSpPr>
          <p:cNvPr id="6" name="LSTM label 1"/>
          <p:cNvSpPr txBox="1"/>
          <p:nvPr/>
        </p:nvSpPr>
        <p:spPr>
          <a:xfrm>
            <a:off x="914400" y="2103120"/>
            <a:ext cx="1280160" cy="502920"/>
          </a:xfrm>
          <a:prstGeom prst="rect">
            <a:avLst/>
          </a:prstGeom>
          <a:noFill/>
          <a:ln/>
        </p:spPr>
        <p:txBody>
          <a:bodyPr wrap="square" lIns="0" tIns="0" rIns="0" bIns="0" rtlCol="0" anchor="ctr"/>
          <a:lstStyle/>
          <a:p>
            <a:pPr marL="0" indent="0" algn="ctr">
              <a:buNone/>
            </a:pPr>
            <a:r>
              <a:rPr lang="en-US" sz="1600" b="1" dirty="0">
                <a:solidFill>
                  <a:schemeClr val="bg1"/>
                </a:solidFill>
              </a:rPr>
              <a:t>LSTM</a:t>
            </a:r>
            <a:endParaRPr lang="en-US" sz="1600" dirty="0"/>
          </a:p>
        </p:txBody>
      </p:sp>
      <p:sp>
        <p:nvSpPr>
          <p:cNvPr id="7" name="Output card 1"/>
          <p:cNvSpPr/>
          <p:nvPr/>
        </p:nvSpPr>
        <p:spPr>
          <a:xfrm>
            <a:off x="914400" y="2971800"/>
            <a:ext cx="1280160" cy="457200"/>
          </a:xfrm>
          <a:prstGeom prst="roundRect">
            <a:avLst>
              <a:gd name="adj" fmla="val 24000"/>
            </a:avLst>
          </a:prstGeom>
          <a:solidFill>
            <a:schemeClr val="bg2"/>
          </a:solidFill>
          <a:ln/>
        </p:spPr>
      </p:sp>
      <p:sp>
        <p:nvSpPr>
          <p:cNvPr id="8" name="Output label 1"/>
          <p:cNvSpPr txBox="1"/>
          <p:nvPr/>
        </p:nvSpPr>
        <p:spPr>
          <a:xfrm>
            <a:off x="914400" y="297180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rPr>
              <a:t>P(next critical)</a:t>
            </a:r>
            <a:endParaRPr lang="en-US" sz="1200" dirty="0"/>
          </a:p>
        </p:txBody>
      </p:sp>
      <p:sp>
        <p:nvSpPr>
          <p:cNvPr id="9" name="Down arrow in 1"/>
          <p:cNvSpPr/>
          <p:nvPr/>
        </p:nvSpPr>
        <p:spPr>
          <a:xfrm>
            <a:off x="1554480" y="1755648"/>
            <a:ext cx="0" cy="329184"/>
          </a:xfrm>
          <a:prstGeom prst="line">
            <a:avLst/>
          </a:prstGeom>
          <a:noFill/>
          <a:ln w="15875">
            <a:solidFill>
              <a:srgbClr val="9A9AA0"/>
            </a:solidFill>
            <a:prstDash val="solid"/>
            <a:tailEnd type="triangle"/>
          </a:ln>
        </p:spPr>
      </p:sp>
      <p:sp>
        <p:nvSpPr>
          <p:cNvPr id="10" name="Down arrow out 1"/>
          <p:cNvSpPr/>
          <p:nvPr/>
        </p:nvSpPr>
        <p:spPr>
          <a:xfrm>
            <a:off x="1554480" y="2624328"/>
            <a:ext cx="0" cy="329184"/>
          </a:xfrm>
          <a:prstGeom prst="line">
            <a:avLst/>
          </a:prstGeom>
          <a:noFill/>
          <a:ln w="15875">
            <a:solidFill>
              <a:srgbClr val="9A9AA0"/>
            </a:solidFill>
            <a:prstDash val="solid"/>
            <a:tailEnd type="triangle"/>
          </a:ln>
        </p:spPr>
      </p:sp>
      <p:sp>
        <p:nvSpPr>
          <p:cNvPr id="11" name="Hidden state arrow 1"/>
          <p:cNvSpPr/>
          <p:nvPr/>
        </p:nvSpPr>
        <p:spPr>
          <a:xfrm>
            <a:off x="2212848" y="2354580"/>
            <a:ext cx="694944" cy="0"/>
          </a:xfrm>
          <a:prstGeom prst="line">
            <a:avLst/>
          </a:prstGeom>
          <a:noFill/>
          <a:ln w="19050">
            <a:solidFill>
              <a:srgbClr val="6CB2EB"/>
            </a:solidFill>
            <a:prstDash val="solid"/>
            <a:tailEnd type="triangle"/>
          </a:ln>
        </p:spPr>
      </p:sp>
      <p:sp>
        <p:nvSpPr>
          <p:cNvPr id="12" name="Input card 2"/>
          <p:cNvSpPr/>
          <p:nvPr/>
        </p:nvSpPr>
        <p:spPr>
          <a:xfrm>
            <a:off x="2926080" y="1280160"/>
            <a:ext cx="1280160" cy="457200"/>
          </a:xfrm>
          <a:prstGeom prst="roundRect">
            <a:avLst>
              <a:gd name="adj" fmla="val 24000"/>
            </a:avLst>
          </a:prstGeom>
          <a:solidFill>
            <a:schemeClr val="bg2"/>
          </a:solidFill>
          <a:ln/>
        </p:spPr>
      </p:sp>
      <p:sp>
        <p:nvSpPr>
          <p:cNvPr id="13" name="Input label 2"/>
          <p:cNvSpPr txBox="1"/>
          <p:nvPr/>
        </p:nvSpPr>
        <p:spPr>
          <a:xfrm>
            <a:off x="2926080" y="1280160"/>
            <a:ext cx="1280160" cy="457200"/>
          </a:xfrm>
          <a:prstGeom prst="rect">
            <a:avLst/>
          </a:prstGeom>
          <a:noFill/>
          <a:ln/>
        </p:spPr>
        <p:txBody>
          <a:bodyPr wrap="square" lIns="0" tIns="0" rIns="0" bIns="0" rtlCol="0" anchor="ctr"/>
          <a:lstStyle/>
          <a:p>
            <a:pPr marL="0" indent="0" algn="ctr">
              <a:buNone/>
            </a:pPr>
            <a:r>
              <a:rPr lang="en-US" sz="1400" dirty="0">
                <a:solidFill>
                  <a:schemeClr val="tx1"/>
                </a:solidFill>
              </a:rPr>
              <a:t>draw 2</a:t>
            </a:r>
            <a:endParaRPr lang="en-US" sz="1400" dirty="0"/>
          </a:p>
        </p:txBody>
      </p:sp>
      <p:sp>
        <p:nvSpPr>
          <p:cNvPr id="14" name="LSTM cell 2"/>
          <p:cNvSpPr/>
          <p:nvPr/>
        </p:nvSpPr>
        <p:spPr>
          <a:xfrm>
            <a:off x="2926080" y="2103120"/>
            <a:ext cx="1280160" cy="502920"/>
          </a:xfrm>
          <a:prstGeom prst="rect">
            <a:avLst/>
          </a:prstGeom>
          <a:solidFill>
            <a:schemeClr val="accent1"/>
          </a:solidFill>
          <a:ln/>
        </p:spPr>
      </p:sp>
      <p:sp>
        <p:nvSpPr>
          <p:cNvPr id="15" name="LSTM label 2"/>
          <p:cNvSpPr txBox="1"/>
          <p:nvPr/>
        </p:nvSpPr>
        <p:spPr>
          <a:xfrm>
            <a:off x="2926080" y="2103120"/>
            <a:ext cx="1280160" cy="502920"/>
          </a:xfrm>
          <a:prstGeom prst="rect">
            <a:avLst/>
          </a:prstGeom>
          <a:noFill/>
          <a:ln/>
        </p:spPr>
        <p:txBody>
          <a:bodyPr wrap="square" lIns="0" tIns="0" rIns="0" bIns="0" rtlCol="0" anchor="ctr"/>
          <a:lstStyle/>
          <a:p>
            <a:pPr marL="0" indent="0" algn="ctr">
              <a:buNone/>
            </a:pPr>
            <a:r>
              <a:rPr lang="en-US" sz="1600" b="1" dirty="0">
                <a:solidFill>
                  <a:schemeClr val="bg1"/>
                </a:solidFill>
              </a:rPr>
              <a:t>LSTM</a:t>
            </a:r>
            <a:endParaRPr lang="en-US" sz="1600" dirty="0"/>
          </a:p>
        </p:txBody>
      </p:sp>
      <p:sp>
        <p:nvSpPr>
          <p:cNvPr id="16" name="Output card 2"/>
          <p:cNvSpPr/>
          <p:nvPr/>
        </p:nvSpPr>
        <p:spPr>
          <a:xfrm>
            <a:off x="2926080" y="2971800"/>
            <a:ext cx="1280160" cy="457200"/>
          </a:xfrm>
          <a:prstGeom prst="roundRect">
            <a:avLst>
              <a:gd name="adj" fmla="val 24000"/>
            </a:avLst>
          </a:prstGeom>
          <a:solidFill>
            <a:schemeClr val="bg2"/>
          </a:solidFill>
          <a:ln/>
        </p:spPr>
      </p:sp>
      <p:sp>
        <p:nvSpPr>
          <p:cNvPr id="17" name="Output label 2"/>
          <p:cNvSpPr txBox="1"/>
          <p:nvPr/>
        </p:nvSpPr>
        <p:spPr>
          <a:xfrm>
            <a:off x="2926080" y="297180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rPr>
              <a:t>P(next critical)</a:t>
            </a:r>
            <a:endParaRPr lang="en-US" sz="1200" dirty="0"/>
          </a:p>
        </p:txBody>
      </p:sp>
      <p:sp>
        <p:nvSpPr>
          <p:cNvPr id="18" name="Down arrow in 2"/>
          <p:cNvSpPr/>
          <p:nvPr/>
        </p:nvSpPr>
        <p:spPr>
          <a:xfrm>
            <a:off x="3566160" y="1755648"/>
            <a:ext cx="0" cy="329184"/>
          </a:xfrm>
          <a:prstGeom prst="line">
            <a:avLst/>
          </a:prstGeom>
          <a:noFill/>
          <a:ln w="15875">
            <a:solidFill>
              <a:srgbClr val="9A9AA0"/>
            </a:solidFill>
            <a:prstDash val="solid"/>
            <a:tailEnd type="triangle"/>
          </a:ln>
        </p:spPr>
      </p:sp>
      <p:sp>
        <p:nvSpPr>
          <p:cNvPr id="19" name="Down arrow out 2"/>
          <p:cNvSpPr/>
          <p:nvPr/>
        </p:nvSpPr>
        <p:spPr>
          <a:xfrm>
            <a:off x="3566160" y="2624328"/>
            <a:ext cx="0" cy="329184"/>
          </a:xfrm>
          <a:prstGeom prst="line">
            <a:avLst/>
          </a:prstGeom>
          <a:noFill/>
          <a:ln w="15875">
            <a:solidFill>
              <a:srgbClr val="9A9AA0"/>
            </a:solidFill>
            <a:prstDash val="solid"/>
            <a:tailEnd type="triangle"/>
          </a:ln>
        </p:spPr>
      </p:sp>
      <p:sp>
        <p:nvSpPr>
          <p:cNvPr id="20" name="Hidden state arrow 2"/>
          <p:cNvSpPr/>
          <p:nvPr/>
        </p:nvSpPr>
        <p:spPr>
          <a:xfrm>
            <a:off x="4224528" y="2354580"/>
            <a:ext cx="694944" cy="0"/>
          </a:xfrm>
          <a:prstGeom prst="line">
            <a:avLst/>
          </a:prstGeom>
          <a:noFill/>
          <a:ln w="19050">
            <a:solidFill>
              <a:srgbClr val="6CB2EB"/>
            </a:solidFill>
            <a:prstDash val="solid"/>
            <a:tailEnd type="triangle"/>
          </a:ln>
        </p:spPr>
      </p:sp>
      <p:sp>
        <p:nvSpPr>
          <p:cNvPr id="21" name="Input card 3"/>
          <p:cNvSpPr/>
          <p:nvPr/>
        </p:nvSpPr>
        <p:spPr>
          <a:xfrm>
            <a:off x="4937760" y="1280160"/>
            <a:ext cx="1280160" cy="457200"/>
          </a:xfrm>
          <a:prstGeom prst="roundRect">
            <a:avLst>
              <a:gd name="adj" fmla="val 24000"/>
            </a:avLst>
          </a:prstGeom>
          <a:solidFill>
            <a:schemeClr val="bg2"/>
          </a:solidFill>
          <a:ln/>
        </p:spPr>
      </p:sp>
      <p:sp>
        <p:nvSpPr>
          <p:cNvPr id="22" name="Input label 3"/>
          <p:cNvSpPr txBox="1"/>
          <p:nvPr/>
        </p:nvSpPr>
        <p:spPr>
          <a:xfrm>
            <a:off x="4937760" y="1280160"/>
            <a:ext cx="1280160" cy="457200"/>
          </a:xfrm>
          <a:prstGeom prst="rect">
            <a:avLst/>
          </a:prstGeom>
          <a:noFill/>
          <a:ln/>
        </p:spPr>
        <p:txBody>
          <a:bodyPr wrap="square" lIns="0" tIns="0" rIns="0" bIns="0" rtlCol="0" anchor="ctr"/>
          <a:lstStyle/>
          <a:p>
            <a:pPr marL="0" indent="0" algn="ctr">
              <a:buNone/>
            </a:pPr>
            <a:r>
              <a:rPr lang="en-US" sz="1400" dirty="0">
                <a:solidFill>
                  <a:schemeClr val="tx1"/>
                </a:solidFill>
              </a:rPr>
              <a:t>draw 3</a:t>
            </a:r>
            <a:endParaRPr lang="en-US" sz="1400" dirty="0"/>
          </a:p>
        </p:txBody>
      </p:sp>
      <p:sp>
        <p:nvSpPr>
          <p:cNvPr id="23" name="LSTM cell 3"/>
          <p:cNvSpPr/>
          <p:nvPr/>
        </p:nvSpPr>
        <p:spPr>
          <a:xfrm>
            <a:off x="4937760" y="2103120"/>
            <a:ext cx="1280160" cy="502920"/>
          </a:xfrm>
          <a:prstGeom prst="rect">
            <a:avLst/>
          </a:prstGeom>
          <a:solidFill>
            <a:schemeClr val="accent1"/>
          </a:solidFill>
          <a:ln/>
        </p:spPr>
      </p:sp>
      <p:sp>
        <p:nvSpPr>
          <p:cNvPr id="24" name="LSTM label 3"/>
          <p:cNvSpPr txBox="1"/>
          <p:nvPr/>
        </p:nvSpPr>
        <p:spPr>
          <a:xfrm>
            <a:off x="4937760" y="2103120"/>
            <a:ext cx="1280160" cy="502920"/>
          </a:xfrm>
          <a:prstGeom prst="rect">
            <a:avLst/>
          </a:prstGeom>
          <a:noFill/>
          <a:ln/>
        </p:spPr>
        <p:txBody>
          <a:bodyPr wrap="square" lIns="0" tIns="0" rIns="0" bIns="0" rtlCol="0" anchor="ctr"/>
          <a:lstStyle/>
          <a:p>
            <a:pPr marL="0" indent="0" algn="ctr">
              <a:buNone/>
            </a:pPr>
            <a:r>
              <a:rPr lang="en-US" sz="1600" b="1" dirty="0">
                <a:solidFill>
                  <a:schemeClr val="bg1"/>
                </a:solidFill>
              </a:rPr>
              <a:t>LSTM</a:t>
            </a:r>
            <a:endParaRPr lang="en-US" sz="1600" dirty="0"/>
          </a:p>
        </p:txBody>
      </p:sp>
      <p:sp>
        <p:nvSpPr>
          <p:cNvPr id="25" name="Output card 3"/>
          <p:cNvSpPr/>
          <p:nvPr/>
        </p:nvSpPr>
        <p:spPr>
          <a:xfrm>
            <a:off x="4937760" y="2971800"/>
            <a:ext cx="1280160" cy="457200"/>
          </a:xfrm>
          <a:prstGeom prst="roundRect">
            <a:avLst>
              <a:gd name="adj" fmla="val 24000"/>
            </a:avLst>
          </a:prstGeom>
          <a:solidFill>
            <a:schemeClr val="bg2"/>
          </a:solidFill>
          <a:ln/>
        </p:spPr>
      </p:sp>
      <p:sp>
        <p:nvSpPr>
          <p:cNvPr id="26" name="Output label 3"/>
          <p:cNvSpPr txBox="1"/>
          <p:nvPr/>
        </p:nvSpPr>
        <p:spPr>
          <a:xfrm>
            <a:off x="4937760" y="297180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rPr>
              <a:t>P(next critical)</a:t>
            </a:r>
            <a:endParaRPr lang="en-US" sz="1200" dirty="0"/>
          </a:p>
        </p:txBody>
      </p:sp>
      <p:sp>
        <p:nvSpPr>
          <p:cNvPr id="27" name="Down arrow in 3"/>
          <p:cNvSpPr/>
          <p:nvPr/>
        </p:nvSpPr>
        <p:spPr>
          <a:xfrm>
            <a:off x="5577840" y="1755648"/>
            <a:ext cx="0" cy="329184"/>
          </a:xfrm>
          <a:prstGeom prst="line">
            <a:avLst/>
          </a:prstGeom>
          <a:noFill/>
          <a:ln w="15875">
            <a:solidFill>
              <a:srgbClr val="9A9AA0"/>
            </a:solidFill>
            <a:prstDash val="solid"/>
            <a:tailEnd type="triangle"/>
          </a:ln>
        </p:spPr>
      </p:sp>
      <p:sp>
        <p:nvSpPr>
          <p:cNvPr id="28" name="Down arrow out 3"/>
          <p:cNvSpPr/>
          <p:nvPr/>
        </p:nvSpPr>
        <p:spPr>
          <a:xfrm>
            <a:off x="5577840" y="2624328"/>
            <a:ext cx="0" cy="329184"/>
          </a:xfrm>
          <a:prstGeom prst="line">
            <a:avLst/>
          </a:prstGeom>
          <a:noFill/>
          <a:ln w="15875">
            <a:solidFill>
              <a:srgbClr val="9A9AA0"/>
            </a:solidFill>
            <a:prstDash val="solid"/>
            <a:tailEnd type="triangle"/>
          </a:ln>
        </p:spPr>
      </p:sp>
      <p:sp>
        <p:nvSpPr>
          <p:cNvPr id="29" name="Hidden state arrow 3"/>
          <p:cNvSpPr/>
          <p:nvPr/>
        </p:nvSpPr>
        <p:spPr>
          <a:xfrm>
            <a:off x="6236208" y="2354580"/>
            <a:ext cx="694944" cy="0"/>
          </a:xfrm>
          <a:prstGeom prst="line">
            <a:avLst/>
          </a:prstGeom>
          <a:noFill/>
          <a:ln w="19050">
            <a:solidFill>
              <a:srgbClr val="6CB2EB"/>
            </a:solidFill>
            <a:prstDash val="solid"/>
            <a:tailEnd type="triangle"/>
          </a:ln>
        </p:spPr>
      </p:sp>
      <p:sp>
        <p:nvSpPr>
          <p:cNvPr id="30" name="Input card 4"/>
          <p:cNvSpPr/>
          <p:nvPr/>
        </p:nvSpPr>
        <p:spPr>
          <a:xfrm>
            <a:off x="6949440" y="1280160"/>
            <a:ext cx="1280160" cy="457200"/>
          </a:xfrm>
          <a:prstGeom prst="roundRect">
            <a:avLst>
              <a:gd name="adj" fmla="val 24000"/>
            </a:avLst>
          </a:prstGeom>
          <a:solidFill>
            <a:schemeClr val="bg2"/>
          </a:solidFill>
          <a:ln/>
        </p:spPr>
      </p:sp>
      <p:sp>
        <p:nvSpPr>
          <p:cNvPr id="31" name="Input label 4"/>
          <p:cNvSpPr txBox="1"/>
          <p:nvPr/>
        </p:nvSpPr>
        <p:spPr>
          <a:xfrm>
            <a:off x="6949440" y="1280160"/>
            <a:ext cx="1280160" cy="457200"/>
          </a:xfrm>
          <a:prstGeom prst="rect">
            <a:avLst/>
          </a:prstGeom>
          <a:noFill/>
          <a:ln/>
        </p:spPr>
        <p:txBody>
          <a:bodyPr wrap="square" lIns="0" tIns="0" rIns="0" bIns="0" rtlCol="0" anchor="ctr"/>
          <a:lstStyle/>
          <a:p>
            <a:pPr marL="0" indent="0" algn="ctr">
              <a:buNone/>
            </a:pPr>
            <a:r>
              <a:rPr lang="en-US" sz="1400" dirty="0">
                <a:solidFill>
                  <a:schemeClr val="tx1"/>
                </a:solidFill>
              </a:rPr>
              <a:t>draw 4</a:t>
            </a:r>
            <a:endParaRPr lang="en-US" sz="1400" dirty="0"/>
          </a:p>
        </p:txBody>
      </p:sp>
      <p:sp>
        <p:nvSpPr>
          <p:cNvPr id="32" name="LSTM cell 4"/>
          <p:cNvSpPr/>
          <p:nvPr/>
        </p:nvSpPr>
        <p:spPr>
          <a:xfrm>
            <a:off x="6949440" y="2103120"/>
            <a:ext cx="1280160" cy="502920"/>
          </a:xfrm>
          <a:prstGeom prst="rect">
            <a:avLst/>
          </a:prstGeom>
          <a:solidFill>
            <a:schemeClr val="accent1"/>
          </a:solidFill>
          <a:ln/>
        </p:spPr>
      </p:sp>
      <p:sp>
        <p:nvSpPr>
          <p:cNvPr id="33" name="LSTM label 4"/>
          <p:cNvSpPr txBox="1"/>
          <p:nvPr/>
        </p:nvSpPr>
        <p:spPr>
          <a:xfrm>
            <a:off x="6949440" y="2103120"/>
            <a:ext cx="1280160" cy="502920"/>
          </a:xfrm>
          <a:prstGeom prst="rect">
            <a:avLst/>
          </a:prstGeom>
          <a:noFill/>
          <a:ln/>
        </p:spPr>
        <p:txBody>
          <a:bodyPr wrap="square" lIns="0" tIns="0" rIns="0" bIns="0" rtlCol="0" anchor="ctr"/>
          <a:lstStyle/>
          <a:p>
            <a:pPr marL="0" indent="0" algn="ctr">
              <a:buNone/>
            </a:pPr>
            <a:r>
              <a:rPr lang="en-US" sz="1600" b="1" dirty="0">
                <a:solidFill>
                  <a:schemeClr val="bg1"/>
                </a:solidFill>
              </a:rPr>
              <a:t>LSTM</a:t>
            </a:r>
            <a:endParaRPr lang="en-US" sz="1600" dirty="0"/>
          </a:p>
        </p:txBody>
      </p:sp>
      <p:sp>
        <p:nvSpPr>
          <p:cNvPr id="34" name="Output card 4"/>
          <p:cNvSpPr/>
          <p:nvPr/>
        </p:nvSpPr>
        <p:spPr>
          <a:xfrm>
            <a:off x="6949440" y="2971800"/>
            <a:ext cx="1280160" cy="457200"/>
          </a:xfrm>
          <a:prstGeom prst="roundRect">
            <a:avLst>
              <a:gd name="adj" fmla="val 24000"/>
            </a:avLst>
          </a:prstGeom>
          <a:solidFill>
            <a:schemeClr val="bg2"/>
          </a:solidFill>
          <a:ln/>
        </p:spPr>
      </p:sp>
      <p:sp>
        <p:nvSpPr>
          <p:cNvPr id="35" name="Output label 4"/>
          <p:cNvSpPr txBox="1"/>
          <p:nvPr/>
        </p:nvSpPr>
        <p:spPr>
          <a:xfrm>
            <a:off x="6949440" y="297180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rPr>
              <a:t>P(next critical)</a:t>
            </a:r>
            <a:endParaRPr lang="en-US" sz="1200" dirty="0"/>
          </a:p>
        </p:txBody>
      </p:sp>
      <p:sp>
        <p:nvSpPr>
          <p:cNvPr id="36" name="Down arrow in 4"/>
          <p:cNvSpPr/>
          <p:nvPr/>
        </p:nvSpPr>
        <p:spPr>
          <a:xfrm>
            <a:off x="7589520" y="1755648"/>
            <a:ext cx="0" cy="329184"/>
          </a:xfrm>
          <a:prstGeom prst="line">
            <a:avLst/>
          </a:prstGeom>
          <a:noFill/>
          <a:ln w="15875">
            <a:solidFill>
              <a:srgbClr val="9A9AA0"/>
            </a:solidFill>
            <a:prstDash val="solid"/>
            <a:tailEnd type="triangle"/>
          </a:ln>
        </p:spPr>
      </p:sp>
      <p:sp>
        <p:nvSpPr>
          <p:cNvPr id="37" name="Down arrow out 4"/>
          <p:cNvSpPr/>
          <p:nvPr/>
        </p:nvSpPr>
        <p:spPr>
          <a:xfrm>
            <a:off x="7589520" y="2624328"/>
            <a:ext cx="0" cy="329184"/>
          </a:xfrm>
          <a:prstGeom prst="line">
            <a:avLst/>
          </a:prstGeom>
          <a:noFill/>
          <a:ln w="15875">
            <a:solidFill>
              <a:srgbClr val="9A9AA0"/>
            </a:solidFill>
            <a:prstDash val="solid"/>
            <a:tailEnd type="triangle"/>
          </a:ln>
        </p:spPr>
      </p:sp>
      <p:sp>
        <p:nvSpPr>
          <p:cNvPr id="38" name="Hidden state note"/>
          <p:cNvSpPr txBox="1"/>
          <p:nvPr/>
        </p:nvSpPr>
        <p:spPr>
          <a:xfrm>
            <a:off x="914400" y="3520440"/>
            <a:ext cx="7315200" cy="274320"/>
          </a:xfrm>
          <a:prstGeom prst="rect">
            <a:avLst/>
          </a:prstGeom>
          <a:noFill/>
          <a:ln/>
        </p:spPr>
        <p:txBody>
          <a:bodyPr wrap="square" lIns="0" tIns="0" rIns="0" bIns="0" rtlCol="0" anchor="t"/>
          <a:lstStyle/>
          <a:p>
            <a:pPr marL="0" indent="0" algn="l">
              <a:buNone/>
            </a:pPr>
            <a:r>
              <a:rPr lang="en-US" sz="1200" dirty="0">
                <a:solidFill>
                  <a:schemeClr val="tx2"/>
                </a:solidFill>
              </a:rPr>
              <a:t>Blue arrows: the hidden state carries history forward</a:t>
            </a:r>
            <a:endParaRPr lang="en-US" sz="1200" dirty="0"/>
          </a:p>
        </p:txBody>
      </p:sp>
      <p:sp>
        <p:nvSpPr>
          <p:cNvPr id="39" name="Point head 1"/>
          <p:cNvSpPr txBox="1"/>
          <p:nvPr/>
        </p:nvSpPr>
        <p:spPr>
          <a:xfrm>
            <a:off x="548640" y="3931920"/>
            <a:ext cx="2560320" cy="274320"/>
          </a:xfrm>
          <a:prstGeom prst="rect">
            <a:avLst/>
          </a:prstGeom>
          <a:noFill/>
          <a:ln/>
        </p:spPr>
        <p:txBody>
          <a:bodyPr wrap="square" lIns="0" tIns="0" rIns="0" bIns="0" rtlCol="0" anchor="t"/>
          <a:lstStyle/>
          <a:p>
            <a:pPr marL="0" indent="0" algn="l">
              <a:buNone/>
            </a:pPr>
            <a:r>
              <a:rPr lang="en-US" sz="1600" b="1" dirty="0">
                <a:solidFill>
                  <a:schemeClr val="accent1"/>
                </a:solidFill>
              </a:rPr>
              <a:t>Per-timestep</a:t>
            </a:r>
            <a:endParaRPr lang="en-US" sz="1600" dirty="0"/>
          </a:p>
        </p:txBody>
      </p:sp>
      <p:sp>
        <p:nvSpPr>
          <p:cNvPr id="40" name="Point body 1"/>
          <p:cNvSpPr txBox="1"/>
          <p:nvPr/>
        </p:nvSpPr>
        <p:spPr>
          <a:xfrm>
            <a:off x="548640" y="4233672"/>
            <a:ext cx="2560320" cy="640080"/>
          </a:xfrm>
          <a:prstGeom prst="rect">
            <a:avLst/>
          </a:prstGeom>
          <a:noFill/>
          <a:ln/>
        </p:spPr>
        <p:txBody>
          <a:bodyPr wrap="square" lIns="0" tIns="0" rIns="0" bIns="0" rtlCol="0" anchor="t"/>
          <a:lstStyle/>
          <a:p>
            <a:pPr marL="0" indent="0" algn="l">
              <a:buNone/>
            </a:pPr>
            <a:r>
              <a:rPr lang="en-US" sz="1400" dirty="0">
                <a:solidFill>
                  <a:schemeClr val="tx1"/>
                </a:solidFill>
              </a:rPr>
              <a:t>Each prediction uses only draws up to that point</a:t>
            </a:r>
            <a:endParaRPr lang="en-US" sz="1400" dirty="0"/>
          </a:p>
        </p:txBody>
      </p:sp>
      <p:sp>
        <p:nvSpPr>
          <p:cNvPr id="41" name="Point head 2"/>
          <p:cNvSpPr txBox="1"/>
          <p:nvPr/>
        </p:nvSpPr>
        <p:spPr>
          <a:xfrm>
            <a:off x="3291840" y="3931920"/>
            <a:ext cx="2560320" cy="274320"/>
          </a:xfrm>
          <a:prstGeom prst="rect">
            <a:avLst/>
          </a:prstGeom>
          <a:noFill/>
          <a:ln/>
        </p:spPr>
        <p:txBody>
          <a:bodyPr wrap="square" lIns="0" tIns="0" rIns="0" bIns="0" rtlCol="0" anchor="t"/>
          <a:lstStyle/>
          <a:p>
            <a:pPr marL="0" indent="0" algn="l">
              <a:buNone/>
            </a:pPr>
            <a:r>
              <a:rPr lang="en-US" sz="1600" b="1" dirty="0">
                <a:solidFill>
                  <a:schemeClr val="accent1"/>
                </a:solidFill>
              </a:rPr>
              <a:t>Masked</a:t>
            </a:r>
            <a:endParaRPr lang="en-US" sz="1600" dirty="0"/>
          </a:p>
        </p:txBody>
      </p:sp>
      <p:sp>
        <p:nvSpPr>
          <p:cNvPr id="42" name="Point body 2"/>
          <p:cNvSpPr txBox="1"/>
          <p:nvPr/>
        </p:nvSpPr>
        <p:spPr>
          <a:xfrm>
            <a:off x="3291840" y="4233672"/>
            <a:ext cx="2560320" cy="640080"/>
          </a:xfrm>
          <a:prstGeom prst="rect">
            <a:avLst/>
          </a:prstGeom>
          <a:noFill/>
          <a:ln/>
        </p:spPr>
        <p:txBody>
          <a:bodyPr wrap="square" lIns="0" tIns="0" rIns="0" bIns="0" rtlCol="0" anchor="t"/>
          <a:lstStyle/>
          <a:p>
            <a:pPr marL="0" indent="0" algn="l">
              <a:buNone/>
            </a:pPr>
            <a:r>
              <a:rPr lang="en-US" sz="1400" dirty="0">
                <a:solidFill>
                  <a:schemeClr val="tx1"/>
                </a:solidFill>
              </a:rPr>
              <a:t>Padded steps are ignored in the loss and the metrics</a:t>
            </a:r>
            <a:endParaRPr lang="en-US" sz="1400" dirty="0"/>
          </a:p>
        </p:txBody>
      </p:sp>
      <p:sp>
        <p:nvSpPr>
          <p:cNvPr id="43" name="Point head 3"/>
          <p:cNvSpPr txBox="1"/>
          <p:nvPr/>
        </p:nvSpPr>
        <p:spPr>
          <a:xfrm>
            <a:off x="6035040" y="3931920"/>
            <a:ext cx="2560320" cy="274320"/>
          </a:xfrm>
          <a:prstGeom prst="rect">
            <a:avLst/>
          </a:prstGeom>
          <a:noFill/>
          <a:ln/>
        </p:spPr>
        <p:txBody>
          <a:bodyPr wrap="square" lIns="0" tIns="0" rIns="0" bIns="0" rtlCol="0" anchor="t"/>
          <a:lstStyle/>
          <a:p>
            <a:pPr marL="0" indent="0" algn="l">
              <a:buNone/>
            </a:pPr>
            <a:r>
              <a:rPr lang="en-US" sz="1600" b="1" dirty="0">
                <a:solidFill>
                  <a:schemeClr val="accent1"/>
                </a:solidFill>
              </a:rPr>
              <a:t>Capped</a:t>
            </a:r>
            <a:endParaRPr lang="en-US" sz="1600" dirty="0"/>
          </a:p>
        </p:txBody>
      </p:sp>
      <p:sp>
        <p:nvSpPr>
          <p:cNvPr id="44" name="Point body 3"/>
          <p:cNvSpPr txBox="1"/>
          <p:nvPr/>
        </p:nvSpPr>
        <p:spPr>
          <a:xfrm>
            <a:off x="6035040" y="4233672"/>
            <a:ext cx="2560320" cy="640080"/>
          </a:xfrm>
          <a:prstGeom prst="rect">
            <a:avLst/>
          </a:prstGeom>
          <a:noFill/>
          <a:ln/>
        </p:spPr>
        <p:txBody>
          <a:bodyPr wrap="square" lIns="0" tIns="0" rIns="0" bIns="0" rtlCol="0" anchor="t"/>
          <a:lstStyle/>
          <a:p>
            <a:pPr marL="0" indent="0" algn="l">
              <a:buNone/>
            </a:pPr>
            <a:r>
              <a:rPr lang="en-US" sz="1400" dirty="0">
                <a:solidFill>
                  <a:schemeClr val="tx1"/>
                </a:solidFill>
              </a:rPr>
              <a:t>Length cap p95 = 26 draws; the most recent are kept</a:t>
            </a:r>
            <a:endParaRPr lang="en-US" sz="1400" dirty="0"/>
          </a:p>
        </p:txBody>
      </p:sp>
      <p:sp>
        <p:nvSpPr>
          <p:cNvPr id="4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Training the LSTM</a:t>
            </a:r>
            <a:endParaRPr lang="en-US" sz="3600" dirty="0"/>
          </a:p>
        </p:txBody>
      </p:sp>
      <p:sp>
        <p:nvSpPr>
          <p:cNvPr id="3" name="LSTM points"/>
          <p:cNvSpPr txBox="1"/>
          <p:nvPr/>
        </p:nvSpPr>
        <p:spPr>
          <a:xfrm>
            <a:off x="548640" y="1371600"/>
            <a:ext cx="3383280" cy="3108960"/>
          </a:xfrm>
          <a:prstGeom prst="rect">
            <a:avLst/>
          </a:prstGeom>
          <a:noFill/>
          <a:ln/>
        </p:spPr>
        <p:txBody>
          <a:bodyPr wrap="square" lIns="0" tIns="0" rIns="0" bIns="0" rtlCol="0" anchor="t"/>
          <a:lstStyle/>
          <a:p>
            <a:pPr marL="342900" indent="-342900" algn="l">
              <a:spcAft>
                <a:spcPts val="1200"/>
              </a:spcAft>
              <a:buSzPct val="100000"/>
              <a:buChar char="•"/>
            </a:pPr>
            <a:r>
              <a:rPr lang="en-US" sz="1500" dirty="0">
                <a:solidFill>
                  <a:schemeClr val="tx1"/>
                </a:solidFill>
              </a:rPr>
              <a:t>pos_weight ≈ 168: negatives per positive in training</a:t>
            </a:r>
            <a:endParaRPr lang="en-US" sz="1500" dirty="0"/>
          </a:p>
          <a:p>
            <a:pPr marL="342900" indent="-342900" algn="l">
              <a:spcAft>
                <a:spcPts val="1200"/>
              </a:spcAft>
              <a:buSzPct val="100000"/>
              <a:buChar char="•"/>
            </a:pPr>
            <a:r>
              <a:rPr lang="en-US" sz="1500" dirty="0">
                <a:solidFill>
                  <a:schemeClr val="tx1"/>
                </a:solidFill>
              </a:rPr>
              <a:t>Mask zeroes padded steps out of the loss</a:t>
            </a:r>
            <a:endParaRPr lang="en-US" sz="1500" dirty="0"/>
          </a:p>
          <a:p>
            <a:pPr marL="342900" indent="-342900" algn="l">
              <a:spcAft>
                <a:spcPts val="1200"/>
              </a:spcAft>
              <a:buSzPct val="100000"/>
              <a:buChar char="•"/>
            </a:pPr>
            <a:r>
              <a:rPr lang="en-US" sz="1500" dirty="0">
                <a:solidFill>
                  <a:schemeClr val="tx1"/>
                </a:solidFill>
              </a:rPr>
              <a:t>Early stopping on validation AUPRC; best epoch restored</a:t>
            </a:r>
            <a:endParaRPr lang="en-US" sz="1500" dirty="0"/>
          </a:p>
          <a:p>
            <a:pPr marL="342900" indent="-342900" algn="l">
              <a:spcAft>
                <a:spcPts val="1200"/>
              </a:spcAft>
              <a:buSzPct val="100000"/>
              <a:buChar char="•"/>
            </a:pPr>
            <a:r>
              <a:rPr lang="en-US" sz="1500" dirty="0">
                <a:solidFill>
                  <a:schemeClr val="tx1"/>
                </a:solidFill>
              </a:rPr>
              <a:t>1 layer, hidden size 32, seed 42</a:t>
            </a:r>
            <a:endParaRPr lang="en-US" sz="1500" dirty="0"/>
          </a:p>
        </p:txBody>
      </p:sp>
      <p:sp>
        <p:nvSpPr>
          <p:cNvPr id="4" name="LSTM code card"/>
          <p:cNvSpPr/>
          <p:nvPr/>
        </p:nvSpPr>
        <p:spPr>
          <a:xfrm>
            <a:off x="4206240" y="1371600"/>
            <a:ext cx="4389120" cy="2697480"/>
          </a:xfrm>
          <a:prstGeom prst="roundRect">
            <a:avLst>
              <a:gd name="adj" fmla="val 4068"/>
            </a:avLst>
          </a:prstGeom>
          <a:solidFill>
            <a:schemeClr val="bg2"/>
          </a:solidFill>
          <a:ln/>
        </p:spPr>
      </p:sp>
      <p:sp>
        <p:nvSpPr>
          <p:cNvPr id="5" name="LSTM code"/>
          <p:cNvSpPr txBox="1"/>
          <p:nvPr/>
        </p:nvSpPr>
        <p:spPr>
          <a:xfrm>
            <a:off x="4434840" y="1572768"/>
            <a:ext cx="3931920" cy="2295144"/>
          </a:xfrm>
          <a:prstGeom prst="rect">
            <a:avLst/>
          </a:prstGeom>
          <a:noFill/>
          <a:ln/>
        </p:spPr>
        <p:txBody>
          <a:bodyPr wrap="square" lIns="0" tIns="0" rIns="0" bIns="0" rtlCol="0" anchor="t"/>
          <a:lstStyle/>
          <a:p>
            <a:pPr marL="0" indent="0" algn="l">
              <a:buNone/>
            </a:pPr>
            <a:r>
              <a:rPr lang="en-US" sz="1200" dirty="0">
                <a:solidFill>
                  <a:schemeClr val="tx1"/>
                </a:solidFill>
                <a:latin typeface="Courier New" pitchFamily="34" charset="0"/>
                <a:ea typeface="Courier New" pitchFamily="34" charset="-122"/>
                <a:cs typeface="Courier New" pitchFamily="34" charset="-120"/>
              </a:rPr>
              <a:t>raw = F.binary_cross_entropy_with_logits(</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logits, labels,</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pos_weight=pos_weight,</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reduction="none")</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loss = (raw * mask).sum() / mask.sum()</a:t>
            </a:r>
            <a:endParaRPr lang="en-US" sz="1200" dirty="0"/>
          </a:p>
          <a:p>
            <a:pPr marL="0" indent="0" algn="l">
              <a:buNone/>
            </a:pP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early stopping on val AUPRC</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if val_auprc &gt; best_auprc:</a:t>
            </a:r>
            <a:endParaRPr lang="en-US" sz="1200" dirty="0"/>
          </a:p>
          <a:p>
            <a:pPr marL="0" indent="0" algn="l">
              <a:buNone/>
            </a:pPr>
            <a:r>
              <a:rPr lang="en-US" sz="1200" dirty="0">
                <a:solidFill>
                  <a:schemeClr val="tx1"/>
                </a:solidFill>
                <a:latin typeface="Courier New" pitchFamily="34" charset="0"/>
                <a:ea typeface="Courier New" pitchFamily="34" charset="-122"/>
                <a:cs typeface="Courier New" pitchFamily="34" charset="-120"/>
              </a:rPr>
              <a:t>    best_state = copy(model.state_dict())</a:t>
            </a:r>
            <a:endParaRPr lang="en-US" sz="1200" dirty="0"/>
          </a:p>
        </p:txBody>
      </p:sp>
      <p:sp>
        <p:nvSpPr>
          <p:cNvPr id="6" name="Code caption"/>
          <p:cNvSpPr txBox="1"/>
          <p:nvPr/>
        </p:nvSpPr>
        <p:spPr>
          <a:xfrm>
            <a:off x="4206240" y="4160520"/>
            <a:ext cx="4389120" cy="274320"/>
          </a:xfrm>
          <a:prstGeom prst="rect">
            <a:avLst/>
          </a:prstGeom>
          <a:noFill/>
          <a:ln/>
        </p:spPr>
        <p:txBody>
          <a:bodyPr wrap="square" lIns="0" tIns="0" rIns="0" bIns="0" rtlCol="0" anchor="t"/>
          <a:lstStyle/>
          <a:p>
            <a:pPr marL="0" indent="0" algn="l">
              <a:buNone/>
            </a:pPr>
            <a:r>
              <a:rPr lang="en-US" sz="1200" dirty="0">
                <a:solidFill>
                  <a:schemeClr val="tx2"/>
                </a:solidFill>
              </a:rPr>
              <a:t>Simplified from lstm_model.py</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A fair comparison needs a fair threshold</a:t>
            </a:r>
            <a:endParaRPr lang="en-US" sz="3600" dirty="0"/>
          </a:p>
        </p:txBody>
      </p:sp>
      <p:pic>
        <p:nvPicPr>
          <p:cNvPr id="3" name="Sensitivity vs threshold" descr="Line chart of validation sensitivity versus threshold for the baseline and LSTM, with a dashed 92 percent target line and dots at each model's chosen operating point"/>
          <p:cNvPicPr>
            <a:picLocks noChangeAspect="1"/>
          </p:cNvPicPr>
          <p:nvPr/>
        </p:nvPicPr>
        <p:blipFill>
          <a:blip r:embed="rId3"/>
          <a:stretch>
            <a:fillRect/>
          </a:stretch>
        </p:blipFill>
        <p:spPr>
          <a:xfrm>
            <a:off x="457200" y="1188720"/>
            <a:ext cx="5394960" cy="3392424"/>
          </a:xfrm>
          <a:prstGeom prst="rect">
            <a:avLst/>
          </a:prstGeom>
        </p:spPr>
      </p:pic>
      <p:sp>
        <p:nvSpPr>
          <p:cNvPr id="4" name="Operating point points"/>
          <p:cNvSpPr txBox="1"/>
          <p:nvPr/>
        </p:nvSpPr>
        <p:spPr>
          <a:xfrm>
            <a:off x="6126480" y="1371600"/>
            <a:ext cx="2560320" cy="3108960"/>
          </a:xfrm>
          <a:prstGeom prst="rect">
            <a:avLst/>
          </a:prstGeom>
          <a:noFill/>
          <a:ln/>
        </p:spPr>
        <p:txBody>
          <a:bodyPr wrap="square" lIns="0" tIns="0" rIns="0" bIns="0" rtlCol="0" anchor="t"/>
          <a:lstStyle/>
          <a:p>
            <a:pPr marL="342900" indent="-342900" algn="l">
              <a:spcAft>
                <a:spcPts val="1200"/>
              </a:spcAft>
              <a:buSzPct val="100000"/>
              <a:buChar char="•"/>
            </a:pPr>
            <a:r>
              <a:rPr lang="en-US" sz="1400" dirty="0">
                <a:solidFill>
                  <a:schemeClr val="tx1"/>
                </a:solidFill>
              </a:rPr>
              <a:t>Same threshold, different behavior: each model's probabilities are calibrated differently</a:t>
            </a:r>
            <a:endParaRPr lang="en-US" sz="1400" dirty="0"/>
          </a:p>
          <a:p>
            <a:pPr marL="342900" indent="-342900" algn="l">
              <a:spcAft>
                <a:spcPts val="1200"/>
              </a:spcAft>
              <a:buSzPct val="100000"/>
              <a:buChar char="•"/>
            </a:pPr>
            <a:r>
              <a:rPr lang="en-US" sz="1400" dirty="0">
                <a:solidFill>
                  <a:schemeClr val="tx1"/>
                </a:solidFill>
              </a:rPr>
              <a:t>Compare at matched sensitivity (~92%) instead</a:t>
            </a:r>
            <a:endParaRPr lang="en-US" sz="1400" dirty="0"/>
          </a:p>
          <a:p>
            <a:pPr marL="342900" indent="-342900" algn="l">
              <a:spcAft>
                <a:spcPts val="1200"/>
              </a:spcAft>
              <a:buSzPct val="100000"/>
              <a:buChar char="•"/>
            </a:pPr>
            <a:r>
              <a:rPr lang="en-US" sz="1400" dirty="0">
                <a:solidFill>
                  <a:schemeClr val="tx1"/>
                </a:solidFill>
              </a:rPr>
              <a:t>Chosen on validation (dots): baseline 0.20, LSTM 0.23</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Potassium: test results</a:t>
            </a:r>
            <a:endParaRPr lang="en-US" sz="3600" dirty="0"/>
          </a:p>
        </p:txBody>
      </p:sp>
      <p:graphicFrame>
        <p:nvGraphicFramePr>
          <p:cNvPr id="14" name="Potassium test table"/>
          <p:cNvGraphicFramePr>
            <a:graphicFrameLocks noGrp="1"/>
          </p:cNvGraphicFramePr>
          <p:nvPr>
            <p:extLst>
              <p:ext uri="{D42A27DB-BD31-4B8C-83A1-F6EECF244321}">
                <p14:modId xmlns:p14="http://schemas.microsoft.com/office/powerpoint/2010/main" val="1579011935"/>
              </p:ext>
            </p:extLst>
          </p:nvPr>
        </p:nvGraphicFramePr>
        <p:xfrm>
          <a:off x="548640" y="1371600"/>
          <a:ext cx="5120640" cy="274320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57200">
                <a:tc>
                  <a:txBody>
                    <a:bodyPr/>
                    <a:lstStyle/>
                    <a:p>
                      <a:pPr marL="0" indent="0">
                        <a:buNone/>
                      </a:pPr>
                      <a:r>
                        <a:rPr lang="en-US" sz="1300" b="1" dirty="0">
                          <a:solidFill>
                            <a:schemeClr val="tx2"/>
                          </a:solidFill>
                        </a:rPr>
                        <a:t>Held-out test</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tx2"/>
                          </a:solidFill>
                        </a:rPr>
                        <a:t>Baseline</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accent1"/>
                          </a:solidFill>
                        </a:rPr>
                        <a:t>LSTM</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rPr>
                        <a:t>AUPRC</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0.099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0.123</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rPr>
                        <a:t>AUROC</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0.824</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0.842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rPr>
                        <a:t>Sensitivity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91.9%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92.6%</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rPr>
                        <a:t>Specificity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26.6%</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35.0%</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rPr>
                        <a:t>Alerts per 1,000 draws</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735.0</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651.8</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Callout card"/>
          <p:cNvSpPr/>
          <p:nvPr/>
        </p:nvSpPr>
        <p:spPr>
          <a:xfrm>
            <a:off x="6035040" y="1371600"/>
            <a:ext cx="2560320" cy="2743200"/>
          </a:xfrm>
          <a:prstGeom prst="roundRect">
            <a:avLst>
              <a:gd name="adj" fmla="val 4286"/>
            </a:avLst>
          </a:prstGeom>
          <a:solidFill>
            <a:schemeClr val="bg2"/>
          </a:solidFill>
          <a:ln/>
        </p:spPr>
      </p:sp>
      <p:sp>
        <p:nvSpPr>
          <p:cNvPr id="5" name="Callout number"/>
          <p:cNvSpPr txBox="1"/>
          <p:nvPr/>
        </p:nvSpPr>
        <p:spPr>
          <a:xfrm>
            <a:off x="6035040" y="1737360"/>
            <a:ext cx="2560320" cy="914400"/>
          </a:xfrm>
          <a:prstGeom prst="rect">
            <a:avLst/>
          </a:prstGeom>
          <a:noFill/>
          <a:ln/>
        </p:spPr>
        <p:txBody>
          <a:bodyPr wrap="square" lIns="0" tIns="0" rIns="0" bIns="0" rtlCol="0" anchor="ctr"/>
          <a:lstStyle/>
          <a:p>
            <a:pPr marL="0" indent="0" algn="ctr">
              <a:buNone/>
            </a:pPr>
            <a:r>
              <a:rPr lang="en-US" sz="6000" b="1" dirty="0">
                <a:solidFill>
                  <a:schemeClr val="accent1"/>
                </a:solidFill>
              </a:rPr>
              <a:t>−83</a:t>
            </a:r>
            <a:endParaRPr lang="en-US" sz="6000" dirty="0"/>
          </a:p>
        </p:txBody>
      </p:sp>
      <p:sp>
        <p:nvSpPr>
          <p:cNvPr id="6" name="Callout caption"/>
          <p:cNvSpPr txBox="1"/>
          <p:nvPr/>
        </p:nvSpPr>
        <p:spPr>
          <a:xfrm>
            <a:off x="6263640" y="2788920"/>
            <a:ext cx="2103120" cy="914400"/>
          </a:xfrm>
          <a:prstGeom prst="rect">
            <a:avLst/>
          </a:prstGeom>
          <a:noFill/>
          <a:ln/>
        </p:spPr>
        <p:txBody>
          <a:bodyPr wrap="square" lIns="0" tIns="0" rIns="0" bIns="0" rtlCol="0" anchor="t"/>
          <a:lstStyle/>
          <a:p>
            <a:pPr marL="0" indent="0" algn="ctr">
              <a:buNone/>
            </a:pPr>
            <a:r>
              <a:rPr lang="en-US" sz="1400" dirty="0">
                <a:solidFill>
                  <a:schemeClr val="tx2"/>
                </a:solidFill>
              </a:rPr>
              <a:t>alerts per 1,000 draws at the same ~92% catch rate</a:t>
            </a:r>
            <a:endParaRPr lang="en-US" sz="1400" dirty="0"/>
          </a:p>
        </p:txBody>
      </p:sp>
      <p:sp>
        <p:nvSpPr>
          <p:cNvPr id="7" name="Table caption"/>
          <p:cNvSpPr txBox="1"/>
          <p:nvPr/>
        </p:nvSpPr>
        <p:spPr>
          <a:xfrm>
            <a:off x="548640" y="4343400"/>
            <a:ext cx="8046720" cy="274320"/>
          </a:xfrm>
          <a:prstGeom prst="rect">
            <a:avLst/>
          </a:prstGeom>
          <a:noFill/>
          <a:ln/>
        </p:spPr>
        <p:txBody>
          <a:bodyPr wrap="square" lIns="0" tIns="0" rIns="0" bIns="0" rtlCol="0" anchor="t"/>
          <a:lstStyle/>
          <a:p>
            <a:pPr marL="0" indent="0" algn="l">
              <a:buNone/>
            </a:pPr>
            <a:r>
              <a:rPr lang="en-US" sz="1200" dirty="0">
                <a:solidFill>
                  <a:schemeClr val="tx2"/>
                </a:solidFill>
              </a:rPr>
              <a:t>Baseline scored on the same rows as the LSTM · thresholds 0.20 / 0.23 chosen on validation</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Checking the truncation confound</a:t>
            </a:r>
            <a:endParaRPr lang="en-US" sz="3600" dirty="0"/>
          </a:p>
        </p:txBody>
      </p:sp>
      <p:graphicFrame>
        <p:nvGraphicFramePr>
          <p:cNvPr id="15" name="Matched-row tabl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1828800"/>
        </p:xfrm>
        <a:graphic>
          <a:graphicData uri="http://schemas.openxmlformats.org/drawingml/2006/table">
            <a:tbl>
              <a:tblPr/>
              <a:tblGrid>
                <a:gridCol w="34747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457200">
                <a:tc>
                  <a:txBody>
                    <a:bodyPr/>
                    <a:lstStyle/>
                    <a:p>
                      <a:pPr marL="0" indent="0">
                        <a:buNone/>
                      </a:pPr>
                      <a:r>
                        <a:rPr lang="en-US" sz="1300" b="1" dirty="0">
                          <a:solidFill>
                            <a:schemeClr val="tx2"/>
                          </a:solidFill>
                        </a:rPr>
                        <a:t>Model</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tx2"/>
                          </a:solidFill>
                        </a:rPr>
                        <a:t>Rows scored</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tx2"/>
                          </a:solidFill>
                        </a:rPr>
                        <a:t>AUPRC</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tx2"/>
                          </a:solidFill>
                        </a:rPr>
                        <a:t>AUROC</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rPr>
                        <a:t>Baseline, all rows</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291,451</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0.103</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0.819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rPr>
                        <a:t>Baseline, LSTM rows only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252,538</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0.099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0.824</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accent1"/>
                          </a:solidFill>
                        </a:rPr>
                        <a:t>LSTM</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accent1"/>
                          </a:solidFill>
                        </a:rPr>
                        <a:t>252,538</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0.123</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accent1"/>
                          </a:solidFill>
                        </a:rPr>
                        <a:t>0.842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Matched-row finding"/>
          <p:cNvSpPr txBox="1"/>
          <p:nvPr/>
        </p:nvSpPr>
        <p:spPr>
          <a:xfrm>
            <a:off x="548640" y="3337560"/>
            <a:ext cx="8046720" cy="731520"/>
          </a:xfrm>
          <a:prstGeom prst="rect">
            <a:avLst/>
          </a:prstGeom>
          <a:noFill/>
          <a:ln/>
        </p:spPr>
        <p:txBody>
          <a:bodyPr wrap="square" lIns="0" tIns="0" rIns="0" bIns="0" rtlCol="0" anchor="t"/>
          <a:lstStyle/>
          <a:p>
            <a:pPr marL="0" indent="0" algn="l">
              <a:buNone/>
            </a:pPr>
            <a:r>
              <a:rPr lang="en-US" sz="1800" dirty="0">
                <a:solidFill>
                  <a:schemeClr val="tx1"/>
                </a:solidFill>
              </a:rPr>
              <a:t>Scoring the baseline only on the LSTM's rows barely moves it, so truncation does not appear to explain the LSTM's edge.</a:t>
            </a:r>
            <a:endParaRPr lang="en-US" sz="1800" dirty="0"/>
          </a:p>
        </p:txBody>
      </p:sp>
      <p:sp>
        <p:nvSpPr>
          <p:cNvPr id="5" name="Noise caveat"/>
          <p:cNvSpPr txBox="1"/>
          <p:nvPr/>
        </p:nvSpPr>
        <p:spPr>
          <a:xfrm>
            <a:off x="548640" y="4114800"/>
            <a:ext cx="8046720" cy="457200"/>
          </a:xfrm>
          <a:prstGeom prst="rect">
            <a:avLst/>
          </a:prstGeom>
          <a:noFill/>
          <a:ln/>
        </p:spPr>
        <p:txBody>
          <a:bodyPr wrap="square" lIns="0" tIns="0" rIns="0" bIns="0" rtlCol="0" anchor="t"/>
          <a:lstStyle/>
          <a:p>
            <a:pPr marL="0" indent="0" algn="l">
              <a:buNone/>
            </a:pPr>
            <a:r>
              <a:rPr lang="en-US" sz="1400" dirty="0">
                <a:solidFill>
                  <a:schemeClr val="tx2"/>
                </a:solidFill>
              </a:rPr>
              <a:t>Caveat: about 1,500 critical draws, one split, one run. A gap of ~0.02 AUPRC may be partly noise.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The full tradeoff</a:t>
            </a:r>
            <a:endParaRPr lang="en-US" sz="3600" dirty="0"/>
          </a:p>
        </p:txBody>
      </p:sp>
      <p:pic>
        <p:nvPicPr>
          <p:cNvPr id="3" name="Tradeoff chart" descr="Tradeoff curve of validation sensitivity versus share of non-critical draws flagged for the baseline and LSTM, with a dashed 92 percent target line and dots at each model's chosen operating point"/>
          <p:cNvPicPr>
            <a:picLocks noChangeAspect="1"/>
          </p:cNvPicPr>
          <p:nvPr/>
        </p:nvPicPr>
        <p:blipFill>
          <a:blip r:embed="rId3"/>
          <a:stretch>
            <a:fillRect/>
          </a:stretch>
        </p:blipFill>
        <p:spPr>
          <a:xfrm>
            <a:off x="548640" y="1188720"/>
            <a:ext cx="8046720" cy="3044952"/>
          </a:xfrm>
          <a:prstGeom prst="rect">
            <a:avLst/>
          </a:prstGeom>
        </p:spPr>
      </p:pic>
      <p:sp>
        <p:nvSpPr>
          <p:cNvPr id="4" name="Chart caption"/>
          <p:cNvSpPr txBox="1"/>
          <p:nvPr/>
        </p:nvSpPr>
        <p:spPr>
          <a:xfrm>
            <a:off x="548640" y="4389120"/>
            <a:ext cx="8046720" cy="274320"/>
          </a:xfrm>
          <a:prstGeom prst="rect">
            <a:avLst/>
          </a:prstGeom>
          <a:noFill/>
          <a:ln/>
        </p:spPr>
        <p:txBody>
          <a:bodyPr wrap="square" lIns="0" tIns="0" rIns="0" bIns="0" rtlCol="0" anchor="t"/>
          <a:lstStyle/>
          <a:p>
            <a:pPr marL="0" indent="0" algn="l">
              <a:buNone/>
            </a:pPr>
            <a:r>
              <a:rPr lang="en-US" sz="1200" dirty="0">
                <a:solidFill>
                  <a:schemeClr val="tx2"/>
                </a:solidFill>
              </a:rPr>
              <a:t>Potassium, validation split. Dots mark the chosen operating points. Further left at the same height = fewer false alarms for the same catch rate.</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Generalization check: glucose</a:t>
            </a:r>
            <a:endParaRPr lang="en-US" sz="3600" dirty="0"/>
          </a:p>
        </p:txBody>
      </p:sp>
      <p:graphicFrame>
        <p:nvGraphicFramePr>
          <p:cNvPr id="17" name="Glucose test table"/>
          <p:cNvGraphicFramePr>
            <a:graphicFrameLocks noGrp="1"/>
          </p:cNvGraphicFramePr>
          <p:nvPr>
            <p:extLst>
              <p:ext uri="{D42A27DB-BD31-4B8C-83A1-F6EECF244321}">
                <p14:modId xmlns:p14="http://schemas.microsoft.com/office/powerpoint/2010/main" val="1579011935"/>
              </p:ext>
            </p:extLst>
          </p:nvPr>
        </p:nvGraphicFramePr>
        <p:xfrm>
          <a:off x="548640" y="1371600"/>
          <a:ext cx="4937760" cy="2743200"/>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57200">
                <a:tc>
                  <a:txBody>
                    <a:bodyPr/>
                    <a:lstStyle/>
                    <a:p>
                      <a:pPr marL="0" indent="0">
                        <a:buNone/>
                      </a:pPr>
                      <a:r>
                        <a:rPr lang="en-US" sz="1300" b="1" dirty="0">
                          <a:solidFill>
                            <a:schemeClr val="tx2"/>
                          </a:solidFill>
                        </a:rPr>
                        <a:t>Held-out test</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tx2"/>
                          </a:solidFill>
                        </a:rPr>
                        <a:t>Baseline</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tc>
                  <a:txBody>
                    <a:bodyPr/>
                    <a:lstStyle/>
                    <a:p>
                      <a:pPr marL="0" indent="0" algn="r">
                        <a:buNone/>
                      </a:pPr>
                      <a:r>
                        <a:rPr lang="en-US" sz="1300" b="1" dirty="0">
                          <a:solidFill>
                            <a:schemeClr val="accent1"/>
                          </a:solidFill>
                        </a:rPr>
                        <a:t>LSTM</a:t>
                      </a:r>
                      <a:endParaRPr lang="en-US" sz="1300" dirty="0"/>
                    </a:p>
                  </a:txBody>
                  <a:tcPr marT="36576" marB="36576" anchor="ctr">
                    <a:lnL w="0" cap="flat" cmpd="sng" algn="ctr">
                      <a:noFill/>
                    </a:lnL>
                    <a:lnR w="0" cap="flat" cmpd="sng" algn="ctr">
                      <a:noFill/>
                    </a:lnR>
                    <a:lnT w="0" cap="flat" cmpd="sng" algn="ctr">
                      <a:noFill/>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rPr>
                        <a:t>AUPRC</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b="1" dirty="0">
                          <a:solidFill>
                            <a:schemeClr val="tx1"/>
                          </a:solidFill>
                        </a:rPr>
                        <a:t>0.079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0.059</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rPr>
                        <a:t>AUROC</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0.797</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0.807</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rPr>
                        <a:t>Sensitivity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91.5%</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90.2%</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rPr>
                        <a:t>Specificity</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25.5%</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32.3%</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rPr>
                        <a:t>Alerts per 1,000 draws</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745.4</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tc>
                  <a:txBody>
                    <a:bodyPr/>
                    <a:lstStyle/>
                    <a:p>
                      <a:pPr marL="0" indent="0" algn="r">
                        <a:buNone/>
                      </a:pPr>
                      <a:r>
                        <a:rPr lang="en-US" sz="1400" dirty="0">
                          <a:solidFill>
                            <a:schemeClr val="tx1"/>
                          </a:solidFill>
                        </a:rPr>
                        <a:t>677.7</a:t>
                      </a:r>
                      <a:endParaRPr lang="en-US" sz="1400" dirty="0"/>
                    </a:p>
                  </a:txBody>
                  <a:tcPr marT="36576" marB="36576" anchor="ctr">
                    <a:lnL w="0" cap="flat" cmpd="sng" algn="ctr">
                      <a:noFill/>
                    </a:lnL>
                    <a:lnR w="0" cap="flat" cmpd="sng" algn="ctr">
                      <a:noFill/>
                    </a:lnR>
                    <a:lnT w="9525" cap="flat" cmpd="sng" algn="ctr">
                      <a:solidFill>
                        <a:srgbClr val="3A3A3F"/>
                      </a:solidFill>
                      <a:prstDash val="solid"/>
                      <a:round/>
                      <a:headEnd type="none" w="med" len="med"/>
                      <a:tailEnd type="none" w="med" len="med"/>
                    </a:lnT>
                    <a:lnB w="9525" cap="flat" cmpd="sng" algn="ctr">
                      <a:solidFill>
                        <a:srgbClr val="3A3A3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Reading card"/>
          <p:cNvSpPr/>
          <p:nvPr/>
        </p:nvSpPr>
        <p:spPr>
          <a:xfrm>
            <a:off x="5760720" y="1371600"/>
            <a:ext cx="2834640" cy="2743200"/>
          </a:xfrm>
          <a:prstGeom prst="roundRect">
            <a:avLst>
              <a:gd name="adj" fmla="val 4000"/>
            </a:avLst>
          </a:prstGeom>
          <a:solidFill>
            <a:schemeClr val="bg2"/>
          </a:solidFill>
          <a:ln/>
        </p:spPr>
      </p:sp>
      <p:sp>
        <p:nvSpPr>
          <p:cNvPr id="5" name="Reading text"/>
          <p:cNvSpPr txBox="1"/>
          <p:nvPr/>
        </p:nvSpPr>
        <p:spPr>
          <a:xfrm>
            <a:off x="5989320" y="1600200"/>
            <a:ext cx="2377440" cy="2377440"/>
          </a:xfrm>
          <a:prstGeom prst="rect">
            <a:avLst/>
          </a:prstGeom>
          <a:noFill/>
          <a:ln/>
        </p:spPr>
        <p:txBody>
          <a:bodyPr wrap="square" lIns="0" tIns="0" rIns="0" bIns="0" rtlCol="0" anchor="t"/>
          <a:lstStyle/>
          <a:p>
            <a:pPr marL="0" indent="0" algn="l">
              <a:buNone/>
            </a:pPr>
            <a:r>
              <a:rPr lang="en-US" sz="1500" b="1" dirty="0">
                <a:solidFill>
                  <a:schemeClr val="tx1"/>
                </a:solidFill>
              </a:rPr>
              <a:t>The LSTM did not beat the baseline.</a:t>
            </a:r>
            <a:endParaRPr lang="en-US" sz="1500" dirty="0"/>
          </a:p>
          <a:p>
            <a:pPr marL="0" indent="0" algn="l">
              <a:buNone/>
            </a:pPr>
            <a:r>
              <a:rPr lang="en-US" sz="600" dirty="0">
                <a:solidFill>
                  <a:schemeClr val="tx1"/>
                </a:solidFill>
              </a:rPr>
              <a:t> </a:t>
            </a:r>
            <a:endParaRPr lang="en-US" sz="1500" dirty="0"/>
          </a:p>
          <a:p>
            <a:pPr marL="0" indent="0" algn="l">
              <a:buNone/>
            </a:pPr>
            <a:r>
              <a:rPr lang="en-US" sz="1500" dirty="0">
                <a:solidFill>
                  <a:schemeClr val="tx1"/>
                </a:solidFill>
              </a:rPr>
              <a:t>High side only: next draw &gt; 400 mg/dL.</a:t>
            </a:r>
            <a:endParaRPr lang="en-US" sz="1500" dirty="0"/>
          </a:p>
          <a:p>
            <a:pPr marL="0" indent="0" algn="l">
              <a:buNone/>
            </a:pPr>
            <a:r>
              <a:rPr lang="en-US" sz="600" dirty="0">
                <a:solidFill>
                  <a:schemeClr val="tx1"/>
                </a:solidFill>
              </a:rPr>
              <a:t> </a:t>
            </a:r>
            <a:endParaRPr lang="en-US" sz="1500" dirty="0"/>
          </a:p>
          <a:p>
            <a:pPr marL="0" indent="0" algn="l">
              <a:buNone/>
            </a:pPr>
            <a:r>
              <a:rPr lang="en-US" sz="1500" dirty="0">
                <a:solidFill>
                  <a:schemeClr val="tx2"/>
                </a:solidFill>
              </a:rPr>
              <a:t>Possible factor: unscaled inputs (untested).</a:t>
            </a:r>
            <a:endParaRPr lang="en-US" sz="1500" dirty="0"/>
          </a:p>
        </p:txBody>
      </p:sp>
      <p:sp>
        <p:nvSpPr>
          <p:cNvPr id="6" name="Table caption"/>
          <p:cNvSpPr txBox="1"/>
          <p:nvPr/>
        </p:nvSpPr>
        <p:spPr>
          <a:xfrm>
            <a:off x="548640" y="4343400"/>
            <a:ext cx="8046720" cy="274320"/>
          </a:xfrm>
          <a:prstGeom prst="rect">
            <a:avLst/>
          </a:prstGeom>
          <a:noFill/>
          <a:ln/>
        </p:spPr>
        <p:txBody>
          <a:bodyPr wrap="square" lIns="0" tIns="0" rIns="0" bIns="0" rtlCol="0" anchor="t"/>
          <a:lstStyle/>
          <a:p>
            <a:pPr marL="0" indent="0" algn="l">
              <a:buNone/>
            </a:pPr>
            <a:r>
              <a:rPr lang="en-US" sz="1200" dirty="0">
                <a:solidFill>
                  <a:schemeClr val="tx2"/>
                </a:solidFill>
              </a:rPr>
              <a:t>Same pipeline, same ~92% sensitivity target · baseline scored on the LSTM's rows · thresholds 0.24 / 0.19</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What limits these results</a:t>
            </a:r>
            <a:endParaRPr lang="en-US" sz="3600" dirty="0"/>
          </a:p>
        </p:txBody>
      </p:sp>
      <p:sp>
        <p:nvSpPr>
          <p:cNvPr id="3" name="Limit card 1"/>
          <p:cNvSpPr/>
          <p:nvPr/>
        </p:nvSpPr>
        <p:spPr>
          <a:xfrm>
            <a:off x="548640" y="1325880"/>
            <a:ext cx="2560320" cy="1325880"/>
          </a:xfrm>
          <a:prstGeom prst="roundRect">
            <a:avLst>
              <a:gd name="adj" fmla="val 8276"/>
            </a:avLst>
          </a:prstGeom>
          <a:solidFill>
            <a:schemeClr val="bg2"/>
          </a:solidFill>
          <a:ln/>
        </p:spPr>
      </p:sp>
      <p:sp>
        <p:nvSpPr>
          <p:cNvPr id="4" name="Limit head 1"/>
          <p:cNvSpPr txBox="1"/>
          <p:nvPr/>
        </p:nvSpPr>
        <p:spPr>
          <a:xfrm>
            <a:off x="731520" y="1463040"/>
            <a:ext cx="2194560" cy="365760"/>
          </a:xfrm>
          <a:prstGeom prst="rect">
            <a:avLst/>
          </a:prstGeom>
          <a:noFill/>
          <a:ln/>
        </p:spPr>
        <p:txBody>
          <a:bodyPr wrap="square" lIns="0" tIns="0" rIns="0" bIns="0" rtlCol="0" anchor="t"/>
          <a:lstStyle/>
          <a:p>
            <a:pPr marL="0" indent="0" algn="l">
              <a:buNone/>
            </a:pPr>
            <a:r>
              <a:rPr lang="en-US" sz="1500" b="1" dirty="0">
                <a:solidFill>
                  <a:schemeClr val="accent1"/>
                </a:solidFill>
              </a:rPr>
              <a:t>Truncation</a:t>
            </a:r>
            <a:endParaRPr lang="en-US" sz="1500" dirty="0"/>
          </a:p>
        </p:txBody>
      </p:sp>
      <p:sp>
        <p:nvSpPr>
          <p:cNvPr id="5" name="Limit body 1"/>
          <p:cNvSpPr txBox="1"/>
          <p:nvPr/>
        </p:nvSpPr>
        <p:spPr>
          <a:xfrm>
            <a:off x="731520" y="1874520"/>
            <a:ext cx="2194560" cy="731520"/>
          </a:xfrm>
          <a:prstGeom prst="rect">
            <a:avLst/>
          </a:prstGeom>
          <a:noFill/>
          <a:ln/>
        </p:spPr>
        <p:txBody>
          <a:bodyPr wrap="square" lIns="0" tIns="0" rIns="0" bIns="0" rtlCol="0" anchor="t"/>
          <a:lstStyle/>
          <a:p>
            <a:pPr marL="0" indent="0" algn="l">
              <a:buNone/>
            </a:pPr>
            <a:r>
              <a:rPr lang="en-US" sz="1300" dirty="0">
                <a:solidFill>
                  <a:schemeClr val="tx1"/>
                </a:solidFill>
              </a:rPr>
              <a:t>The length cap changes who the LSTM is scored on</a:t>
            </a:r>
            <a:endParaRPr lang="en-US" sz="1300" dirty="0"/>
          </a:p>
        </p:txBody>
      </p:sp>
      <p:sp>
        <p:nvSpPr>
          <p:cNvPr id="6" name="Limit card 2"/>
          <p:cNvSpPr/>
          <p:nvPr/>
        </p:nvSpPr>
        <p:spPr>
          <a:xfrm>
            <a:off x="3291840" y="1325880"/>
            <a:ext cx="2560320" cy="1325880"/>
          </a:xfrm>
          <a:prstGeom prst="roundRect">
            <a:avLst>
              <a:gd name="adj" fmla="val 8276"/>
            </a:avLst>
          </a:prstGeom>
          <a:solidFill>
            <a:schemeClr val="bg2"/>
          </a:solidFill>
          <a:ln/>
        </p:spPr>
      </p:sp>
      <p:sp>
        <p:nvSpPr>
          <p:cNvPr id="7" name="Limit head 2"/>
          <p:cNvSpPr txBox="1"/>
          <p:nvPr/>
        </p:nvSpPr>
        <p:spPr>
          <a:xfrm>
            <a:off x="3474720" y="1463040"/>
            <a:ext cx="2194560" cy="365760"/>
          </a:xfrm>
          <a:prstGeom prst="rect">
            <a:avLst/>
          </a:prstGeom>
          <a:noFill/>
          <a:ln/>
        </p:spPr>
        <p:txBody>
          <a:bodyPr wrap="square" lIns="0" tIns="0" rIns="0" bIns="0" rtlCol="0" anchor="t"/>
          <a:lstStyle/>
          <a:p>
            <a:pPr marL="0" indent="0" algn="l">
              <a:buNone/>
            </a:pPr>
            <a:r>
              <a:rPr lang="en-US" sz="1500" b="1" dirty="0">
                <a:solidFill>
                  <a:schemeClr val="accent1"/>
                </a:solidFill>
              </a:rPr>
              <a:t>"Next draw" ≠ "next hour"</a:t>
            </a:r>
            <a:endParaRPr lang="en-US" sz="1500" dirty="0"/>
          </a:p>
        </p:txBody>
      </p:sp>
      <p:sp>
        <p:nvSpPr>
          <p:cNvPr id="8" name="Limit body 2"/>
          <p:cNvSpPr txBox="1"/>
          <p:nvPr/>
        </p:nvSpPr>
        <p:spPr>
          <a:xfrm>
            <a:off x="3474720" y="1874520"/>
            <a:ext cx="2194560" cy="731520"/>
          </a:xfrm>
          <a:prstGeom prst="rect">
            <a:avLst/>
          </a:prstGeom>
          <a:noFill/>
          <a:ln/>
        </p:spPr>
        <p:txBody>
          <a:bodyPr wrap="square" lIns="0" tIns="0" rIns="0" bIns="0" rtlCol="0" anchor="t"/>
          <a:lstStyle/>
          <a:p>
            <a:pPr marL="0" indent="0" algn="l">
              <a:buNone/>
            </a:pPr>
            <a:r>
              <a:rPr lang="en-US" sz="1300" dirty="0">
                <a:solidFill>
                  <a:schemeClr val="tx1"/>
                </a:solidFill>
              </a:rPr>
              <a:t>The label ignores how far away the next draw is</a:t>
            </a:r>
            <a:endParaRPr lang="en-US" sz="1300" dirty="0"/>
          </a:p>
        </p:txBody>
      </p:sp>
      <p:sp>
        <p:nvSpPr>
          <p:cNvPr id="9" name="Limit card 3"/>
          <p:cNvSpPr/>
          <p:nvPr/>
        </p:nvSpPr>
        <p:spPr>
          <a:xfrm>
            <a:off x="6035040" y="1325880"/>
            <a:ext cx="2560320" cy="1325880"/>
          </a:xfrm>
          <a:prstGeom prst="roundRect">
            <a:avLst>
              <a:gd name="adj" fmla="val 8276"/>
            </a:avLst>
          </a:prstGeom>
          <a:solidFill>
            <a:schemeClr val="bg2"/>
          </a:solidFill>
          <a:ln/>
        </p:spPr>
      </p:sp>
      <p:sp>
        <p:nvSpPr>
          <p:cNvPr id="10" name="Limit head 3"/>
          <p:cNvSpPr txBox="1"/>
          <p:nvPr/>
        </p:nvSpPr>
        <p:spPr>
          <a:xfrm>
            <a:off x="6217920" y="1463040"/>
            <a:ext cx="2194560" cy="365760"/>
          </a:xfrm>
          <a:prstGeom prst="rect">
            <a:avLst/>
          </a:prstGeom>
          <a:noFill/>
          <a:ln/>
        </p:spPr>
        <p:txBody>
          <a:bodyPr wrap="square" lIns="0" tIns="0" rIns="0" bIns="0" rtlCol="0" anchor="t"/>
          <a:lstStyle/>
          <a:p>
            <a:pPr marL="0" indent="0" algn="l">
              <a:buNone/>
            </a:pPr>
            <a:r>
              <a:rPr lang="en-US" sz="1500" b="1" dirty="0">
                <a:solidFill>
                  <a:schemeClr val="accent1"/>
                </a:solidFill>
              </a:rPr>
              <a:t>Draw timing is a signal</a:t>
            </a:r>
            <a:endParaRPr lang="en-US" sz="1500" dirty="0"/>
          </a:p>
        </p:txBody>
      </p:sp>
      <p:sp>
        <p:nvSpPr>
          <p:cNvPr id="11" name="Limit body 3"/>
          <p:cNvSpPr txBox="1"/>
          <p:nvPr/>
        </p:nvSpPr>
        <p:spPr>
          <a:xfrm>
            <a:off x="6217920" y="1874520"/>
            <a:ext cx="2194560" cy="731520"/>
          </a:xfrm>
          <a:prstGeom prst="rect">
            <a:avLst/>
          </a:prstGeom>
          <a:noFill/>
          <a:ln/>
        </p:spPr>
        <p:txBody>
          <a:bodyPr wrap="square" lIns="0" tIns="0" rIns="0" bIns="0" rtlCol="0" anchor="t"/>
          <a:lstStyle/>
          <a:p>
            <a:pPr marL="0" indent="0" algn="l">
              <a:buNone/>
            </a:pPr>
            <a:r>
              <a:rPr lang="en-US" sz="1300" dirty="0">
                <a:solidFill>
                  <a:schemeClr val="tx1"/>
                </a:solidFill>
              </a:rPr>
              <a:t>Clinicians re-draw when worried</a:t>
            </a:r>
            <a:endParaRPr lang="en-US" sz="1300" dirty="0"/>
          </a:p>
        </p:txBody>
      </p:sp>
      <p:sp>
        <p:nvSpPr>
          <p:cNvPr id="12" name="Limit card 4"/>
          <p:cNvSpPr/>
          <p:nvPr/>
        </p:nvSpPr>
        <p:spPr>
          <a:xfrm>
            <a:off x="548640" y="2788920"/>
            <a:ext cx="2560320" cy="1325880"/>
          </a:xfrm>
          <a:prstGeom prst="roundRect">
            <a:avLst>
              <a:gd name="adj" fmla="val 8276"/>
            </a:avLst>
          </a:prstGeom>
          <a:solidFill>
            <a:schemeClr val="bg2"/>
          </a:solidFill>
          <a:ln/>
        </p:spPr>
      </p:sp>
      <p:sp>
        <p:nvSpPr>
          <p:cNvPr id="13" name="Limit head 4"/>
          <p:cNvSpPr txBox="1"/>
          <p:nvPr/>
        </p:nvSpPr>
        <p:spPr>
          <a:xfrm>
            <a:off x="731520" y="2926080"/>
            <a:ext cx="2194560" cy="365760"/>
          </a:xfrm>
          <a:prstGeom prst="rect">
            <a:avLst/>
          </a:prstGeom>
          <a:noFill/>
          <a:ln/>
        </p:spPr>
        <p:txBody>
          <a:bodyPr wrap="square" lIns="0" tIns="0" rIns="0" bIns="0" rtlCol="0" anchor="t"/>
          <a:lstStyle/>
          <a:p>
            <a:pPr marL="0" indent="0" algn="l">
              <a:buNone/>
            </a:pPr>
            <a:r>
              <a:rPr lang="en-US" sz="1500" b="1" dirty="0">
                <a:solidFill>
                  <a:schemeClr val="accent1"/>
                </a:solidFill>
              </a:rPr>
              <a:t>Hemolysis</a:t>
            </a:r>
            <a:endParaRPr lang="en-US" sz="1500" dirty="0"/>
          </a:p>
        </p:txBody>
      </p:sp>
      <p:sp>
        <p:nvSpPr>
          <p:cNvPr id="14" name="Limit body 4"/>
          <p:cNvSpPr txBox="1"/>
          <p:nvPr/>
        </p:nvSpPr>
        <p:spPr>
          <a:xfrm>
            <a:off x="731520" y="3337560"/>
            <a:ext cx="2194560" cy="731520"/>
          </a:xfrm>
          <a:prstGeom prst="rect">
            <a:avLst/>
          </a:prstGeom>
          <a:noFill/>
          <a:ln/>
        </p:spPr>
        <p:txBody>
          <a:bodyPr wrap="square" lIns="0" tIns="0" rIns="0" bIns="0" rtlCol="0" anchor="t"/>
          <a:lstStyle/>
          <a:p>
            <a:pPr marL="0" indent="0" algn="l">
              <a:buNone/>
            </a:pPr>
            <a:r>
              <a:rPr lang="en-US" sz="1300" dirty="0">
                <a:solidFill>
                  <a:schemeClr val="tx1"/>
                </a:solidFill>
              </a:rPr>
              <a:t>Can create false high potassium; no specimen quality used</a:t>
            </a:r>
            <a:endParaRPr lang="en-US" sz="1300" dirty="0"/>
          </a:p>
        </p:txBody>
      </p:sp>
      <p:sp>
        <p:nvSpPr>
          <p:cNvPr id="15" name="Limit card 5"/>
          <p:cNvSpPr/>
          <p:nvPr/>
        </p:nvSpPr>
        <p:spPr>
          <a:xfrm>
            <a:off x="3291840" y="2788920"/>
            <a:ext cx="2560320" cy="1325880"/>
          </a:xfrm>
          <a:prstGeom prst="roundRect">
            <a:avLst>
              <a:gd name="adj" fmla="val 8276"/>
            </a:avLst>
          </a:prstGeom>
          <a:solidFill>
            <a:schemeClr val="bg2"/>
          </a:solidFill>
          <a:ln/>
        </p:spPr>
      </p:sp>
      <p:sp>
        <p:nvSpPr>
          <p:cNvPr id="16" name="Limit head 5"/>
          <p:cNvSpPr txBox="1"/>
          <p:nvPr/>
        </p:nvSpPr>
        <p:spPr>
          <a:xfrm>
            <a:off x="3474720" y="2926080"/>
            <a:ext cx="2194560" cy="365760"/>
          </a:xfrm>
          <a:prstGeom prst="rect">
            <a:avLst/>
          </a:prstGeom>
          <a:noFill/>
          <a:ln/>
        </p:spPr>
        <p:txBody>
          <a:bodyPr wrap="square" lIns="0" tIns="0" rIns="0" bIns="0" rtlCol="0" anchor="t"/>
          <a:lstStyle/>
          <a:p>
            <a:pPr marL="0" indent="0" algn="l">
              <a:buNone/>
            </a:pPr>
            <a:r>
              <a:rPr lang="en-US" sz="1500" b="1" dirty="0">
                <a:solidFill>
                  <a:schemeClr val="accent1"/>
                </a:solidFill>
              </a:rPr>
              <a:t>Unscaled LSTM inputs</a:t>
            </a:r>
            <a:endParaRPr lang="en-US" sz="1500" dirty="0"/>
          </a:p>
        </p:txBody>
      </p:sp>
      <p:sp>
        <p:nvSpPr>
          <p:cNvPr id="17" name="Limit body 5"/>
          <p:cNvSpPr txBox="1"/>
          <p:nvPr/>
        </p:nvSpPr>
        <p:spPr>
          <a:xfrm>
            <a:off x="3474720" y="3337560"/>
            <a:ext cx="2194560" cy="731520"/>
          </a:xfrm>
          <a:prstGeom prst="rect">
            <a:avLst/>
          </a:prstGeom>
          <a:noFill/>
          <a:ln/>
        </p:spPr>
        <p:txBody>
          <a:bodyPr wrap="square" lIns="0" tIns="0" rIns="0" bIns="0" rtlCol="0" anchor="t"/>
          <a:lstStyle/>
          <a:p>
            <a:pPr marL="0" indent="0" algn="l">
              <a:buNone/>
            </a:pPr>
            <a:r>
              <a:rPr lang="en-US" sz="1300" dirty="0">
                <a:solidFill>
                  <a:schemeClr val="tx1"/>
                </a:solidFill>
              </a:rPr>
              <a:t>The reported gap could be over- or under-stated</a:t>
            </a:r>
            <a:endParaRPr lang="en-US" sz="1300" dirty="0"/>
          </a:p>
        </p:txBody>
      </p:sp>
      <p:sp>
        <p:nvSpPr>
          <p:cNvPr id="18" name="Limit card 6"/>
          <p:cNvSpPr/>
          <p:nvPr/>
        </p:nvSpPr>
        <p:spPr>
          <a:xfrm>
            <a:off x="6035040" y="2788920"/>
            <a:ext cx="2560320" cy="1325880"/>
          </a:xfrm>
          <a:prstGeom prst="roundRect">
            <a:avLst>
              <a:gd name="adj" fmla="val 8276"/>
            </a:avLst>
          </a:prstGeom>
          <a:solidFill>
            <a:schemeClr val="bg2"/>
          </a:solidFill>
          <a:ln/>
        </p:spPr>
      </p:sp>
      <p:sp>
        <p:nvSpPr>
          <p:cNvPr id="19" name="Limit head 6"/>
          <p:cNvSpPr txBox="1"/>
          <p:nvPr/>
        </p:nvSpPr>
        <p:spPr>
          <a:xfrm>
            <a:off x="6217920" y="2926080"/>
            <a:ext cx="2194560" cy="365760"/>
          </a:xfrm>
          <a:prstGeom prst="rect">
            <a:avLst/>
          </a:prstGeom>
          <a:noFill/>
          <a:ln/>
        </p:spPr>
        <p:txBody>
          <a:bodyPr wrap="square" lIns="0" tIns="0" rIns="0" bIns="0" rtlCol="0" anchor="t"/>
          <a:lstStyle/>
          <a:p>
            <a:pPr marL="0" indent="0" algn="l">
              <a:buNone/>
            </a:pPr>
            <a:r>
              <a:rPr lang="en-US" sz="1500" b="1" dirty="0">
                <a:solidFill>
                  <a:schemeClr val="accent1"/>
                </a:solidFill>
              </a:rPr>
              <a:t>One hospital, split, run</a:t>
            </a:r>
            <a:endParaRPr lang="en-US" sz="1500" dirty="0"/>
          </a:p>
        </p:txBody>
      </p:sp>
      <p:sp>
        <p:nvSpPr>
          <p:cNvPr id="20" name="Limit body 6"/>
          <p:cNvSpPr txBox="1"/>
          <p:nvPr/>
        </p:nvSpPr>
        <p:spPr>
          <a:xfrm>
            <a:off x="6217920" y="3337560"/>
            <a:ext cx="2194560" cy="731520"/>
          </a:xfrm>
          <a:prstGeom prst="rect">
            <a:avLst/>
          </a:prstGeom>
          <a:noFill/>
          <a:ln/>
        </p:spPr>
        <p:txBody>
          <a:bodyPr wrap="square" lIns="0" tIns="0" rIns="0" bIns="0" rtlCol="0" anchor="t"/>
          <a:lstStyle/>
          <a:p>
            <a:pPr marL="0" indent="0" algn="l">
              <a:buNone/>
            </a:pPr>
            <a:r>
              <a:rPr lang="en-US" sz="1300" dirty="0">
                <a:solidFill>
                  <a:schemeClr val="tx1"/>
                </a:solidFill>
              </a:rPr>
              <a:t>No confidence intervals</a:t>
            </a:r>
            <a:endParaRPr lang="en-US" sz="1300" dirty="0"/>
          </a:p>
        </p:txBody>
      </p:sp>
      <p:sp>
        <p:nvSpPr>
          <p:cNvPr id="21" name="Deployability note"/>
          <p:cNvSpPr txBox="1"/>
          <p:nvPr/>
        </p:nvSpPr>
        <p:spPr>
          <a:xfrm>
            <a:off x="548640" y="4343400"/>
            <a:ext cx="8046720" cy="274320"/>
          </a:xfrm>
          <a:prstGeom prst="rect">
            <a:avLst/>
          </a:prstGeom>
          <a:noFill/>
          <a:ln/>
        </p:spPr>
        <p:txBody>
          <a:bodyPr wrap="square" lIns="0" tIns="0" rIns="0" bIns="0" rtlCol="0" anchor="t"/>
          <a:lstStyle/>
          <a:p>
            <a:pPr marL="0" indent="0" algn="l">
              <a:buNone/>
            </a:pPr>
            <a:r>
              <a:rPr lang="en-US" sz="1400" dirty="0">
                <a:solidFill>
                  <a:schemeClr val="tx2"/>
                </a:solidFill>
              </a:rPr>
              <a:t>Not deployable: precision is below 1% at ~92% sensitivity for both models.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Takeaways</a:t>
            </a:r>
            <a:endParaRPr lang="en-US" sz="3600" dirty="0"/>
          </a:p>
        </p:txBody>
      </p:sp>
      <p:sp>
        <p:nvSpPr>
          <p:cNvPr id="3" name="Takeaway number 1"/>
          <p:cNvSpPr txBox="1"/>
          <p:nvPr/>
        </p:nvSpPr>
        <p:spPr>
          <a:xfrm>
            <a:off x="548640" y="1280160"/>
            <a:ext cx="548640" cy="640080"/>
          </a:xfrm>
          <a:prstGeom prst="rect">
            <a:avLst/>
          </a:prstGeom>
          <a:noFill/>
          <a:ln/>
        </p:spPr>
        <p:txBody>
          <a:bodyPr wrap="square" lIns="0" tIns="0" rIns="0" bIns="0" rtlCol="0" anchor="t"/>
          <a:lstStyle/>
          <a:p>
            <a:pPr marL="0" indent="0" algn="l">
              <a:buNone/>
            </a:pPr>
            <a:r>
              <a:rPr lang="en-US" sz="3600" b="1" dirty="0">
                <a:solidFill>
                  <a:schemeClr val="accent1"/>
                </a:solidFill>
              </a:rPr>
              <a:t>1</a:t>
            </a:r>
            <a:endParaRPr lang="en-US" sz="3600" dirty="0"/>
          </a:p>
        </p:txBody>
      </p:sp>
      <p:sp>
        <p:nvSpPr>
          <p:cNvPr id="4" name="Takeaway text 1"/>
          <p:cNvSpPr txBox="1"/>
          <p:nvPr/>
        </p:nvSpPr>
        <p:spPr>
          <a:xfrm>
            <a:off x="1188720" y="1325880"/>
            <a:ext cx="7406640" cy="731520"/>
          </a:xfrm>
          <a:prstGeom prst="rect">
            <a:avLst/>
          </a:prstGeom>
          <a:noFill/>
          <a:ln/>
        </p:spPr>
        <p:txBody>
          <a:bodyPr wrap="square" lIns="0" tIns="0" rIns="0" bIns="0" rtlCol="0" anchor="t"/>
          <a:lstStyle/>
          <a:p>
            <a:pPr marL="0" indent="0" algn="l">
              <a:buNone/>
            </a:pPr>
            <a:r>
              <a:rPr lang="en-US" sz="1700" dirty="0">
                <a:solidFill>
                  <a:schemeClr val="tx1"/>
                </a:solidFill>
              </a:rPr>
              <a:t>Sequence modeling helped on potassium, modestly: about 83 fewer alerts per 1,000 draws at the same catch rate.</a:t>
            </a:r>
            <a:endParaRPr lang="en-US" sz="1700" dirty="0"/>
          </a:p>
        </p:txBody>
      </p:sp>
      <p:sp>
        <p:nvSpPr>
          <p:cNvPr id="5" name="Takeaway number 2"/>
          <p:cNvSpPr txBox="1"/>
          <p:nvPr/>
        </p:nvSpPr>
        <p:spPr>
          <a:xfrm>
            <a:off x="548640" y="2103120"/>
            <a:ext cx="548640" cy="640080"/>
          </a:xfrm>
          <a:prstGeom prst="rect">
            <a:avLst/>
          </a:prstGeom>
          <a:noFill/>
          <a:ln/>
        </p:spPr>
        <p:txBody>
          <a:bodyPr wrap="square" lIns="0" tIns="0" rIns="0" bIns="0" rtlCol="0" anchor="t"/>
          <a:lstStyle/>
          <a:p>
            <a:pPr marL="0" indent="0" algn="l">
              <a:buNone/>
            </a:pPr>
            <a:r>
              <a:rPr lang="en-US" sz="3600" b="1" dirty="0">
                <a:solidFill>
                  <a:schemeClr val="accent1"/>
                </a:solidFill>
              </a:rPr>
              <a:t>2</a:t>
            </a:r>
            <a:endParaRPr lang="en-US" sz="3600" dirty="0"/>
          </a:p>
        </p:txBody>
      </p:sp>
      <p:sp>
        <p:nvSpPr>
          <p:cNvPr id="6" name="Takeaway text 2"/>
          <p:cNvSpPr txBox="1"/>
          <p:nvPr/>
        </p:nvSpPr>
        <p:spPr>
          <a:xfrm>
            <a:off x="1188720" y="2148840"/>
            <a:ext cx="7406640" cy="731520"/>
          </a:xfrm>
          <a:prstGeom prst="rect">
            <a:avLst/>
          </a:prstGeom>
          <a:noFill/>
          <a:ln/>
        </p:spPr>
        <p:txBody>
          <a:bodyPr wrap="square" lIns="0" tIns="0" rIns="0" bIns="0" rtlCol="0" anchor="t"/>
          <a:lstStyle/>
          <a:p>
            <a:pPr marL="0" indent="0" algn="l">
              <a:buNone/>
            </a:pPr>
            <a:r>
              <a:rPr lang="en-US" sz="1700" dirty="0">
                <a:solidFill>
                  <a:schemeClr val="tx1"/>
                </a:solidFill>
              </a:rPr>
              <a:t>It did not help on glucose. A gain on one analyte is not a general result.</a:t>
            </a:r>
            <a:endParaRPr lang="en-US" sz="1700" dirty="0"/>
          </a:p>
        </p:txBody>
      </p:sp>
      <p:sp>
        <p:nvSpPr>
          <p:cNvPr id="7" name="Takeaway number 3"/>
          <p:cNvSpPr txBox="1"/>
          <p:nvPr/>
        </p:nvSpPr>
        <p:spPr>
          <a:xfrm>
            <a:off x="548640" y="2926080"/>
            <a:ext cx="548640" cy="640080"/>
          </a:xfrm>
          <a:prstGeom prst="rect">
            <a:avLst/>
          </a:prstGeom>
          <a:noFill/>
          <a:ln/>
        </p:spPr>
        <p:txBody>
          <a:bodyPr wrap="square" lIns="0" tIns="0" rIns="0" bIns="0" rtlCol="0" anchor="t"/>
          <a:lstStyle/>
          <a:p>
            <a:pPr marL="0" indent="0" algn="l">
              <a:buNone/>
            </a:pPr>
            <a:r>
              <a:rPr lang="en-US" sz="3600" b="1" dirty="0">
                <a:solidFill>
                  <a:schemeClr val="accent1"/>
                </a:solidFill>
              </a:rPr>
              <a:t>3</a:t>
            </a:r>
            <a:endParaRPr lang="en-US" sz="3600" dirty="0"/>
          </a:p>
        </p:txBody>
      </p:sp>
      <p:sp>
        <p:nvSpPr>
          <p:cNvPr id="8" name="Takeaway text 3"/>
          <p:cNvSpPr txBox="1"/>
          <p:nvPr/>
        </p:nvSpPr>
        <p:spPr>
          <a:xfrm>
            <a:off x="1188720" y="2971800"/>
            <a:ext cx="7406640" cy="731520"/>
          </a:xfrm>
          <a:prstGeom prst="rect">
            <a:avLst/>
          </a:prstGeom>
          <a:noFill/>
          <a:ln/>
        </p:spPr>
        <p:txBody>
          <a:bodyPr wrap="square" lIns="0" tIns="0" rIns="0" bIns="0" rtlCol="0" anchor="t"/>
          <a:lstStyle/>
          <a:p>
            <a:pPr marL="0" indent="0" algn="l">
              <a:buNone/>
            </a:pPr>
            <a:r>
              <a:rPr lang="en-US" sz="1700" dirty="0">
                <a:solidFill>
                  <a:schemeClr val="tx1"/>
                </a:solidFill>
              </a:rPr>
              <a:t>Design decisions mattered as much as the model: admission-scoped sequences, plausibility filters, patient-level splits, matched-sensitivity comparison.</a:t>
            </a:r>
            <a:endParaRPr lang="en-US" sz="1700" dirty="0"/>
          </a:p>
        </p:txBody>
      </p:sp>
      <p:sp>
        <p:nvSpPr>
          <p:cNvPr id="9" name="Takeaway number 4"/>
          <p:cNvSpPr txBox="1"/>
          <p:nvPr/>
        </p:nvSpPr>
        <p:spPr>
          <a:xfrm>
            <a:off x="548640" y="3749040"/>
            <a:ext cx="548640" cy="640080"/>
          </a:xfrm>
          <a:prstGeom prst="rect">
            <a:avLst/>
          </a:prstGeom>
          <a:noFill/>
          <a:ln/>
        </p:spPr>
        <p:txBody>
          <a:bodyPr wrap="square" lIns="0" tIns="0" rIns="0" bIns="0" rtlCol="0" anchor="t"/>
          <a:lstStyle/>
          <a:p>
            <a:pPr marL="0" indent="0" algn="l">
              <a:buNone/>
            </a:pPr>
            <a:r>
              <a:rPr lang="en-US" sz="3600" b="1" dirty="0">
                <a:solidFill>
                  <a:schemeClr val="accent1"/>
                </a:solidFill>
              </a:rPr>
              <a:t>4</a:t>
            </a:r>
            <a:endParaRPr lang="en-US" sz="3600" dirty="0"/>
          </a:p>
        </p:txBody>
      </p:sp>
      <p:sp>
        <p:nvSpPr>
          <p:cNvPr id="10" name="Takeaway text 4"/>
          <p:cNvSpPr txBox="1"/>
          <p:nvPr/>
        </p:nvSpPr>
        <p:spPr>
          <a:xfrm>
            <a:off x="1188720" y="3794760"/>
            <a:ext cx="7406640" cy="731520"/>
          </a:xfrm>
          <a:prstGeom prst="rect">
            <a:avLst/>
          </a:prstGeom>
          <a:noFill/>
          <a:ln/>
        </p:spPr>
        <p:txBody>
          <a:bodyPr wrap="square" lIns="0" tIns="0" rIns="0" bIns="0" rtlCol="0" anchor="t"/>
          <a:lstStyle/>
          <a:p>
            <a:pPr marL="0" indent="0" algn="l">
              <a:buNone/>
            </a:pPr>
            <a:r>
              <a:rPr lang="en-US" sz="1700" dirty="0">
                <a:solidFill>
                  <a:schemeClr val="tx1"/>
                </a:solidFill>
              </a:rPr>
              <a:t>Neither model is deployable. The lesson is the method, not the score.</a:t>
            </a:r>
            <a:endParaRPr lang="en-US" sz="17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t"/>
          <a:lstStyle/>
          <a:p>
            <a:pPr marL="0" indent="0" algn="l">
              <a:buNone/>
            </a:pPr>
            <a:r>
              <a:rPr lang="en-US" sz="3600" b="1" dirty="0">
                <a:solidFill>
                  <a:schemeClr val="tx1"/>
                </a:solidFill>
              </a:rPr>
              <a:t>Run it yourself</a:t>
            </a:r>
            <a:endParaRPr lang="en-US" sz="3600" dirty="0"/>
          </a:p>
        </p:txBody>
      </p:sp>
      <p:sp>
        <p:nvSpPr>
          <p:cNvPr id="3" name="Requirements"/>
          <p:cNvSpPr txBox="1"/>
          <p:nvPr/>
        </p:nvSpPr>
        <p:spPr>
          <a:xfrm>
            <a:off x="548640" y="1371600"/>
            <a:ext cx="4206240" cy="2743200"/>
          </a:xfrm>
          <a:prstGeom prst="rect">
            <a:avLst/>
          </a:prstGeom>
          <a:noFill/>
          <a:ln/>
        </p:spPr>
        <p:txBody>
          <a:bodyPr wrap="square" lIns="0" tIns="0" rIns="0" bIns="0" rtlCol="0" anchor="t"/>
          <a:lstStyle/>
          <a:p>
            <a:pPr marL="342900" indent="-342900" algn="l">
              <a:spcAft>
                <a:spcPts val="1200"/>
              </a:spcAft>
              <a:buSzPct val="100000"/>
              <a:buChar char="•"/>
            </a:pPr>
            <a:r>
              <a:rPr lang="en-US" sz="1600" dirty="0">
                <a:solidFill>
                  <a:schemeClr val="tx1"/>
                </a:solidFill>
              </a:rPr>
              <a:t>PhysioNet-credentialed MIMIC-IV access on BigQuery</a:t>
            </a:r>
            <a:endParaRPr lang="en-US" sz="1600" dirty="0"/>
          </a:p>
          <a:p>
            <a:pPr marL="342900" indent="-342900" algn="l">
              <a:spcAft>
                <a:spcPts val="1200"/>
              </a:spcAft>
              <a:buSzPct val="100000"/>
              <a:buChar char="•"/>
            </a:pPr>
            <a:r>
              <a:rPr lang="en-US" sz="1600" dirty="0">
                <a:solidFill>
                  <a:schemeClr val="tx1"/>
                </a:solidFill>
              </a:rPr>
              <a:t>A GCP billing project (queries run against it)</a:t>
            </a:r>
            <a:endParaRPr lang="en-US" sz="1600" dirty="0"/>
          </a:p>
          <a:p>
            <a:pPr marL="342900" indent="-342900" algn="l">
              <a:spcAft>
                <a:spcPts val="1200"/>
              </a:spcAft>
              <a:buSzPct val="100000"/>
              <a:buChar char="•"/>
            </a:pPr>
            <a:r>
              <a:rPr lang="en-US" sz="1600" dirty="0">
                <a:solidFill>
                  <a:schemeClr val="tx1"/>
                </a:solidFill>
              </a:rPr>
              <a:t>Python with pandas, scikit-learn, PyTorch, google-cloud-bigquery</a:t>
            </a:r>
            <a:endParaRPr lang="en-US" sz="1600" dirty="0"/>
          </a:p>
          <a:p>
            <a:pPr marL="342900" indent="-342900" algn="l">
              <a:spcAft>
                <a:spcPts val="1200"/>
              </a:spcAft>
              <a:buSzPct val="100000"/>
              <a:buChar char="•"/>
            </a:pPr>
            <a:r>
              <a:rPr lang="en-US" sz="1600" dirty="0">
                <a:solidFill>
                  <a:schemeClr val="tx1"/>
                </a:solidFill>
              </a:rPr>
              <a:t>Four modules plus the notebook; seeds fixed at 42</a:t>
            </a:r>
            <a:endParaRPr lang="en-US" sz="1600" dirty="0"/>
          </a:p>
        </p:txBody>
      </p:sp>
      <p:sp>
        <p:nvSpPr>
          <p:cNvPr id="4" name="Files card"/>
          <p:cNvSpPr/>
          <p:nvPr/>
        </p:nvSpPr>
        <p:spPr>
          <a:xfrm>
            <a:off x="5029200" y="1371600"/>
            <a:ext cx="3566160" cy="2743200"/>
          </a:xfrm>
          <a:prstGeom prst="roundRect">
            <a:avLst>
              <a:gd name="adj" fmla="val 4000"/>
            </a:avLst>
          </a:prstGeom>
          <a:solidFill>
            <a:schemeClr val="bg2"/>
          </a:solidFill>
          <a:ln/>
        </p:spPr>
      </p:sp>
      <p:sp>
        <p:nvSpPr>
          <p:cNvPr id="5" name="Module list"/>
          <p:cNvSpPr txBox="1"/>
          <p:nvPr/>
        </p:nvSpPr>
        <p:spPr>
          <a:xfrm>
            <a:off x="5257800" y="1600200"/>
            <a:ext cx="3108960" cy="1371600"/>
          </a:xfrm>
          <a:prstGeom prst="rect">
            <a:avLst/>
          </a:prstGeom>
          <a:noFill/>
          <a:ln/>
        </p:spPr>
        <p:txBody>
          <a:bodyPr wrap="square" lIns="0" tIns="0" rIns="0" bIns="0" rtlCol="0" anchor="t"/>
          <a:lstStyle/>
          <a:p>
            <a:pPr marL="0" indent="0" algn="l">
              <a:buNone/>
            </a:pPr>
            <a:r>
              <a:rPr lang="en-US" sz="1300" dirty="0">
                <a:solidFill>
                  <a:schemeClr val="tx1"/>
                </a:solidFill>
                <a:latin typeface="Courier New" pitchFamily="34" charset="0"/>
                <a:ea typeface="Courier New" pitchFamily="34" charset="-122"/>
                <a:cs typeface="Courier New" pitchFamily="34" charset="-120"/>
              </a:rPr>
              <a:t>lab_sequence_pipeline.py</a:t>
            </a:r>
            <a:endParaRPr lang="en-US" sz="1300" dirty="0"/>
          </a:p>
          <a:p>
            <a:pPr marL="0" indent="0" algn="l">
              <a:buNone/>
            </a:pPr>
            <a:r>
              <a:rPr lang="en-US" sz="1300" dirty="0">
                <a:solidFill>
                  <a:schemeClr val="tx1"/>
                </a:solidFill>
                <a:latin typeface="Courier New" pitchFamily="34" charset="0"/>
                <a:ea typeface="Courier New" pitchFamily="34" charset="-122"/>
                <a:cs typeface="Courier New" pitchFamily="34" charset="-120"/>
              </a:rPr>
              <a:t>baseline_model.py</a:t>
            </a:r>
            <a:endParaRPr lang="en-US" sz="1300" dirty="0"/>
          </a:p>
          <a:p>
            <a:pPr marL="0" indent="0" algn="l">
              <a:buNone/>
            </a:pPr>
            <a:r>
              <a:rPr lang="en-US" sz="1300" dirty="0">
                <a:solidFill>
                  <a:schemeClr val="tx1"/>
                </a:solidFill>
                <a:latin typeface="Courier New" pitchFamily="34" charset="0"/>
                <a:ea typeface="Courier New" pitchFamily="34" charset="-122"/>
                <a:cs typeface="Courier New" pitchFamily="34" charset="-120"/>
              </a:rPr>
              <a:t>sequence_dataset.py</a:t>
            </a:r>
            <a:endParaRPr lang="en-US" sz="1300" dirty="0"/>
          </a:p>
          <a:p>
            <a:pPr marL="0" indent="0" algn="l">
              <a:buNone/>
            </a:pPr>
            <a:r>
              <a:rPr lang="en-US" sz="1300" dirty="0">
                <a:solidFill>
                  <a:schemeClr val="tx1"/>
                </a:solidFill>
                <a:latin typeface="Courier New" pitchFamily="34" charset="0"/>
                <a:ea typeface="Courier New" pitchFamily="34" charset="-122"/>
                <a:cs typeface="Courier New" pitchFamily="34" charset="-120"/>
              </a:rPr>
              <a:t>lstm_model.py</a:t>
            </a:r>
            <a:endParaRPr lang="en-US" sz="1300" dirty="0"/>
          </a:p>
        </p:txBody>
      </p:sp>
      <p:sp>
        <p:nvSpPr>
          <p:cNvPr id="6" name="Citation"/>
          <p:cNvSpPr txBox="1"/>
          <p:nvPr/>
        </p:nvSpPr>
        <p:spPr>
          <a:xfrm>
            <a:off x="5257800" y="3108960"/>
            <a:ext cx="3108960" cy="822960"/>
          </a:xfrm>
          <a:prstGeom prst="rect">
            <a:avLst/>
          </a:prstGeom>
          <a:noFill/>
          <a:ln/>
        </p:spPr>
        <p:txBody>
          <a:bodyPr wrap="square" lIns="0" tIns="0" rIns="0" bIns="0" rtlCol="0" anchor="t"/>
          <a:lstStyle/>
          <a:p>
            <a:pPr marL="0" indent="0" algn="l">
              <a:buNone/>
            </a:pPr>
            <a:r>
              <a:rPr lang="en-US" sz="1200" dirty="0">
                <a:solidFill>
                  <a:schemeClr val="tx2"/>
                </a:solidFill>
              </a:rPr>
              <a:t>Data: Johnson, A. et al. MIMIC-IV (v3.1). PhysioNet. doi:10.13026/kpb9-mt58</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Dark Minimal">
  <a:themeElements>
    <a:clrScheme name="Dark Minimal">
      <a:dk1>
        <a:srgbClr val="F2F2F2"/>
      </a:dk1>
      <a:lt1>
        <a:srgbClr val="0B0B0C"/>
      </a:lt1>
      <a:dk2>
        <a:srgbClr val="8A8A8F"/>
      </a:dk2>
      <a:lt2>
        <a:srgbClr val="1C1C1F"/>
      </a:lt2>
      <a:accent1>
        <a:srgbClr val="6CB2EB"/>
      </a:accent1>
      <a:accent2>
        <a:srgbClr val="8A8A8F"/>
      </a:accent2>
      <a:accent3>
        <a:srgbClr val="E8A33D"/>
      </a:accent3>
      <a:accent4>
        <a:srgbClr val="B8B8BD"/>
      </a:accent4>
      <a:accent5>
        <a:srgbClr val="4A4A4F"/>
      </a:accent5>
      <a:accent6>
        <a:srgbClr val="F2F2F2"/>
      </a:accent6>
      <a:hlink>
        <a:srgbClr val="6CB2EB"/>
      </a:hlink>
      <a:folHlink>
        <a:srgbClr val="8A8A8F"/>
      </a:folHlink>
    </a:clrScheme>
    <a:fontScheme name="Dark Mini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4857</Words>
  <Application>Microsoft Office PowerPoint</Application>
  <PresentationFormat>On-screen Show (16:9)</PresentationFormat>
  <Paragraphs>301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Dark Minimal</vt:lpstr>
      <vt:lpstr>PowerPoint Presentation</vt:lpstr>
      <vt:lpstr>Why predict the next critical value</vt:lpstr>
      <vt:lpstr>The question and the two models</vt:lpstr>
      <vt:lpstr>The data</vt:lpstr>
      <vt:lpstr>Label and features</vt:lpstr>
      <vt:lpstr>Sequences stay inside one admission</vt:lpstr>
      <vt:lpstr>Split by patient, not by row</vt:lpstr>
      <vt:lpstr>Rare events need the right metrics</vt:lpstr>
      <vt:lpstr>Baseline: logistic regression</vt:lpstr>
      <vt:lpstr>Sequence model: LSTM</vt:lpstr>
      <vt:lpstr>Training the LSTM</vt:lpstr>
      <vt:lpstr>A fair comparison needs a fair threshold</vt:lpstr>
      <vt:lpstr>Potassium: test results</vt:lpstr>
      <vt:lpstr>Checking the truncation confound</vt:lpstr>
      <vt:lpstr>The full tradeoff</vt:lpstr>
      <vt:lpstr>Generalization check: glucose</vt:lpstr>
      <vt:lpstr>What limits these results</vt:lpstr>
      <vt:lpstr>Takeaways</vt:lpstr>
      <vt:lpstr>Run it yourself</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Critical Lab Values from Draw History</dc:title>
  <dc:subject>PptxGenJS Presentation</dc:subject>
  <dc:creator>PptxGenJS</dc:creator>
  <cp:lastModifiedBy>troy ramsay</cp:lastModifiedBy>
  <cp:revision>4</cp:revision>
  <dcterms:created xsi:type="dcterms:W3CDTF">2026-10-06T23:04:51Z</dcterms:created>
  <dcterms:modified xsi:type="dcterms:W3CDTF">2026-10-12T01:35:11Z</dcterms:modified>
</cp:coreProperties>
</file>